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7" r:id="rId3"/>
    <p:sldId id="258" r:id="rId4"/>
    <p:sldId id="259" r:id="rId5"/>
    <p:sldId id="260" r:id="rId6"/>
    <p:sldId id="261" r:id="rId7"/>
    <p:sldId id="262" r:id="rId8"/>
    <p:sldId id="264" r:id="rId9"/>
    <p:sldId id="293" r:id="rId10"/>
    <p:sldId id="267" r:id="rId11"/>
    <p:sldId id="265" r:id="rId12"/>
    <p:sldId id="266" r:id="rId13"/>
    <p:sldId id="268" r:id="rId14"/>
    <p:sldId id="274" r:id="rId15"/>
    <p:sldId id="275" r:id="rId16"/>
    <p:sldId id="292" r:id="rId17"/>
    <p:sldId id="289" r:id="rId18"/>
    <p:sldId id="290" r:id="rId19"/>
    <p:sldId id="291" r:id="rId20"/>
    <p:sldId id="271" r:id="rId21"/>
    <p:sldId id="273" r:id="rId22"/>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4343D7-0B74-4104-9FAB-E92BEAD7DACA}" v="23" dt="2025-08-21T12:13:28.9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2" autoAdjust="0"/>
    <p:restoredTop sz="94660"/>
  </p:normalViewPr>
  <p:slideViewPr>
    <p:cSldViewPr snapToGrid="0">
      <p:cViewPr varScale="1">
        <p:scale>
          <a:sx n="105" d="100"/>
          <a:sy n="105" d="100"/>
        </p:scale>
        <p:origin x="54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27B240-F74F-4191-8CA3-9C5F3256D01A}" type="doc">
      <dgm:prSet loTypeId="urn:microsoft.com/office/officeart/2016/7/layout/RepeatingBendingProcessNew" loCatId="process" qsTypeId="urn:microsoft.com/office/officeart/2005/8/quickstyle/simple1" qsCatId="simple" csTypeId="urn:microsoft.com/office/officeart/2005/8/colors/accent0_3" csCatId="mainScheme"/>
      <dgm:spPr/>
      <dgm:t>
        <a:bodyPr/>
        <a:lstStyle/>
        <a:p>
          <a:endParaRPr lang="en-US"/>
        </a:p>
      </dgm:t>
    </dgm:pt>
    <dgm:pt modelId="{0261A2B5-0E7F-4C6D-AB28-803B9576673F}">
      <dgm:prSet/>
      <dgm:spPr/>
      <dgm:t>
        <a:bodyPr/>
        <a:lstStyle/>
        <a:p>
          <a:r>
            <a:rPr lang="en-US" dirty="0"/>
            <a:t>Introduction</a:t>
          </a:r>
        </a:p>
      </dgm:t>
    </dgm:pt>
    <dgm:pt modelId="{1A7EC7F0-4488-4595-92CB-BA3C7DB14442}" type="parTrans" cxnId="{83BE210A-E304-4F87-91E5-6EE65A9343DC}">
      <dgm:prSet/>
      <dgm:spPr/>
      <dgm:t>
        <a:bodyPr/>
        <a:lstStyle/>
        <a:p>
          <a:endParaRPr lang="en-US"/>
        </a:p>
      </dgm:t>
    </dgm:pt>
    <dgm:pt modelId="{E75ABD1F-AF99-4BB1-96D4-C04B4D8E9F1C}" type="sibTrans" cxnId="{83BE210A-E304-4F87-91E5-6EE65A9343DC}">
      <dgm:prSet/>
      <dgm:spPr/>
      <dgm:t>
        <a:bodyPr/>
        <a:lstStyle/>
        <a:p>
          <a:endParaRPr lang="en-US"/>
        </a:p>
      </dgm:t>
    </dgm:pt>
    <dgm:pt modelId="{607FCB45-DB26-48D4-A4D5-D5BBB7D8EA1D}">
      <dgm:prSet/>
      <dgm:spPr/>
      <dgm:t>
        <a:bodyPr/>
        <a:lstStyle/>
        <a:p>
          <a:r>
            <a:rPr lang="en-US"/>
            <a:t>Objectives</a:t>
          </a:r>
        </a:p>
      </dgm:t>
    </dgm:pt>
    <dgm:pt modelId="{9F7F8E32-552B-4A8A-AA90-F67266894B9C}" type="parTrans" cxnId="{EDEF7F28-9916-4925-90F6-F4DB8E81C8BD}">
      <dgm:prSet/>
      <dgm:spPr/>
      <dgm:t>
        <a:bodyPr/>
        <a:lstStyle/>
        <a:p>
          <a:endParaRPr lang="en-US"/>
        </a:p>
      </dgm:t>
    </dgm:pt>
    <dgm:pt modelId="{7CCF30C3-2103-42AC-A807-8BCD2F97E8A1}" type="sibTrans" cxnId="{EDEF7F28-9916-4925-90F6-F4DB8E81C8BD}">
      <dgm:prSet/>
      <dgm:spPr/>
      <dgm:t>
        <a:bodyPr/>
        <a:lstStyle/>
        <a:p>
          <a:endParaRPr lang="en-US"/>
        </a:p>
      </dgm:t>
    </dgm:pt>
    <dgm:pt modelId="{1A81DBE1-6EE5-49F7-BB5B-0C251B820CAA}">
      <dgm:prSet/>
      <dgm:spPr/>
      <dgm:t>
        <a:bodyPr/>
        <a:lstStyle/>
        <a:p>
          <a:r>
            <a:rPr lang="en-US"/>
            <a:t>Methodology</a:t>
          </a:r>
        </a:p>
      </dgm:t>
    </dgm:pt>
    <dgm:pt modelId="{206CB57E-90EE-4A3D-8B9F-02D2FEFB3B12}" type="parTrans" cxnId="{1A7DB9ED-77CF-46EC-B71D-1CABDE505FE2}">
      <dgm:prSet/>
      <dgm:spPr/>
      <dgm:t>
        <a:bodyPr/>
        <a:lstStyle/>
        <a:p>
          <a:endParaRPr lang="en-US"/>
        </a:p>
      </dgm:t>
    </dgm:pt>
    <dgm:pt modelId="{8AD90E02-1625-4A75-903B-A4445B76A15B}" type="sibTrans" cxnId="{1A7DB9ED-77CF-46EC-B71D-1CABDE505FE2}">
      <dgm:prSet/>
      <dgm:spPr/>
      <dgm:t>
        <a:bodyPr/>
        <a:lstStyle/>
        <a:p>
          <a:endParaRPr lang="en-US"/>
        </a:p>
      </dgm:t>
    </dgm:pt>
    <dgm:pt modelId="{826BB5C9-0499-4B0A-AD62-6948BD8FF546}">
      <dgm:prSet/>
      <dgm:spPr/>
      <dgm:t>
        <a:bodyPr/>
        <a:lstStyle/>
        <a:p>
          <a:r>
            <a:rPr lang="en-US"/>
            <a:t>Results</a:t>
          </a:r>
        </a:p>
      </dgm:t>
    </dgm:pt>
    <dgm:pt modelId="{0A0BBA38-52DF-44C7-A65E-8647EF67E444}" type="parTrans" cxnId="{62144FCA-45D3-40FC-9187-65D0F5904F5B}">
      <dgm:prSet/>
      <dgm:spPr/>
      <dgm:t>
        <a:bodyPr/>
        <a:lstStyle/>
        <a:p>
          <a:endParaRPr lang="en-US"/>
        </a:p>
      </dgm:t>
    </dgm:pt>
    <dgm:pt modelId="{7D5B5A94-067F-4144-A003-7CE0F65CFCF1}" type="sibTrans" cxnId="{62144FCA-45D3-40FC-9187-65D0F5904F5B}">
      <dgm:prSet/>
      <dgm:spPr/>
      <dgm:t>
        <a:bodyPr/>
        <a:lstStyle/>
        <a:p>
          <a:endParaRPr lang="en-US"/>
        </a:p>
      </dgm:t>
    </dgm:pt>
    <dgm:pt modelId="{498E7D8F-4197-4D1F-AD92-58E2CDFDFD21}">
      <dgm:prSet/>
      <dgm:spPr/>
      <dgm:t>
        <a:bodyPr/>
        <a:lstStyle/>
        <a:p>
          <a:r>
            <a:rPr lang="en-US"/>
            <a:t>Conclusion</a:t>
          </a:r>
        </a:p>
      </dgm:t>
    </dgm:pt>
    <dgm:pt modelId="{C05A7339-D9C2-48D7-9DC5-78A4073021BE}" type="parTrans" cxnId="{4FAC9CB1-26E9-4E2F-9E2C-D2D5F071078D}">
      <dgm:prSet/>
      <dgm:spPr/>
      <dgm:t>
        <a:bodyPr/>
        <a:lstStyle/>
        <a:p>
          <a:endParaRPr lang="en-US"/>
        </a:p>
      </dgm:t>
    </dgm:pt>
    <dgm:pt modelId="{D3D96D3B-925B-4504-8C4F-5FE0D4CD9E4D}" type="sibTrans" cxnId="{4FAC9CB1-26E9-4E2F-9E2C-D2D5F071078D}">
      <dgm:prSet/>
      <dgm:spPr/>
      <dgm:t>
        <a:bodyPr/>
        <a:lstStyle/>
        <a:p>
          <a:endParaRPr lang="en-US"/>
        </a:p>
      </dgm:t>
    </dgm:pt>
    <dgm:pt modelId="{FDF91527-EF91-4F5C-AD58-234CC924B569}" type="pres">
      <dgm:prSet presAssocID="{EB27B240-F74F-4191-8CA3-9C5F3256D01A}" presName="Name0" presStyleCnt="0">
        <dgm:presLayoutVars>
          <dgm:dir/>
          <dgm:resizeHandles val="exact"/>
        </dgm:presLayoutVars>
      </dgm:prSet>
      <dgm:spPr/>
    </dgm:pt>
    <dgm:pt modelId="{4B7A024F-8A8E-4531-9FBB-619F31EA6F6F}" type="pres">
      <dgm:prSet presAssocID="{0261A2B5-0E7F-4C6D-AB28-803B9576673F}" presName="node" presStyleLbl="node1" presStyleIdx="0" presStyleCnt="5">
        <dgm:presLayoutVars>
          <dgm:bulletEnabled val="1"/>
        </dgm:presLayoutVars>
      </dgm:prSet>
      <dgm:spPr/>
    </dgm:pt>
    <dgm:pt modelId="{850CD6C3-32F4-4A97-9273-AD37780D8D8C}" type="pres">
      <dgm:prSet presAssocID="{E75ABD1F-AF99-4BB1-96D4-C04B4D8E9F1C}" presName="sibTrans" presStyleLbl="sibTrans1D1" presStyleIdx="0" presStyleCnt="4"/>
      <dgm:spPr/>
    </dgm:pt>
    <dgm:pt modelId="{0336A58A-74B4-4249-9B8A-54FCB6123A76}" type="pres">
      <dgm:prSet presAssocID="{E75ABD1F-AF99-4BB1-96D4-C04B4D8E9F1C}" presName="connectorText" presStyleLbl="sibTrans1D1" presStyleIdx="0" presStyleCnt="4"/>
      <dgm:spPr/>
    </dgm:pt>
    <dgm:pt modelId="{3EFEA809-653D-4154-ABB9-49D942E7E0BB}" type="pres">
      <dgm:prSet presAssocID="{607FCB45-DB26-48D4-A4D5-D5BBB7D8EA1D}" presName="node" presStyleLbl="node1" presStyleIdx="1" presStyleCnt="5">
        <dgm:presLayoutVars>
          <dgm:bulletEnabled val="1"/>
        </dgm:presLayoutVars>
      </dgm:prSet>
      <dgm:spPr/>
    </dgm:pt>
    <dgm:pt modelId="{D49FB862-EF39-4B80-99E1-6B4D1C4810C9}" type="pres">
      <dgm:prSet presAssocID="{7CCF30C3-2103-42AC-A807-8BCD2F97E8A1}" presName="sibTrans" presStyleLbl="sibTrans1D1" presStyleIdx="1" presStyleCnt="4"/>
      <dgm:spPr/>
    </dgm:pt>
    <dgm:pt modelId="{7FD6F068-A5AC-49DF-BFD9-2D96FFFA0C95}" type="pres">
      <dgm:prSet presAssocID="{7CCF30C3-2103-42AC-A807-8BCD2F97E8A1}" presName="connectorText" presStyleLbl="sibTrans1D1" presStyleIdx="1" presStyleCnt="4"/>
      <dgm:spPr/>
    </dgm:pt>
    <dgm:pt modelId="{3490FB96-8A3E-41BB-934E-0B306727774D}" type="pres">
      <dgm:prSet presAssocID="{1A81DBE1-6EE5-49F7-BB5B-0C251B820CAA}" presName="node" presStyleLbl="node1" presStyleIdx="2" presStyleCnt="5">
        <dgm:presLayoutVars>
          <dgm:bulletEnabled val="1"/>
        </dgm:presLayoutVars>
      </dgm:prSet>
      <dgm:spPr/>
    </dgm:pt>
    <dgm:pt modelId="{C8EAB717-E9D2-4D3A-9152-0793C337E0C5}" type="pres">
      <dgm:prSet presAssocID="{8AD90E02-1625-4A75-903B-A4445B76A15B}" presName="sibTrans" presStyleLbl="sibTrans1D1" presStyleIdx="2" presStyleCnt="4"/>
      <dgm:spPr/>
    </dgm:pt>
    <dgm:pt modelId="{829703B8-5E88-4E04-BD43-9FE0940D3F2B}" type="pres">
      <dgm:prSet presAssocID="{8AD90E02-1625-4A75-903B-A4445B76A15B}" presName="connectorText" presStyleLbl="sibTrans1D1" presStyleIdx="2" presStyleCnt="4"/>
      <dgm:spPr/>
    </dgm:pt>
    <dgm:pt modelId="{C5499AA2-8D44-4CC5-9A41-FCAFA220F68A}" type="pres">
      <dgm:prSet presAssocID="{826BB5C9-0499-4B0A-AD62-6948BD8FF546}" presName="node" presStyleLbl="node1" presStyleIdx="3" presStyleCnt="5">
        <dgm:presLayoutVars>
          <dgm:bulletEnabled val="1"/>
        </dgm:presLayoutVars>
      </dgm:prSet>
      <dgm:spPr/>
    </dgm:pt>
    <dgm:pt modelId="{8F08DC8B-20C4-41C0-8420-522472F7C37D}" type="pres">
      <dgm:prSet presAssocID="{7D5B5A94-067F-4144-A003-7CE0F65CFCF1}" presName="sibTrans" presStyleLbl="sibTrans1D1" presStyleIdx="3" presStyleCnt="4"/>
      <dgm:spPr/>
    </dgm:pt>
    <dgm:pt modelId="{0EEA889F-3187-4202-B268-199D85D804C1}" type="pres">
      <dgm:prSet presAssocID="{7D5B5A94-067F-4144-A003-7CE0F65CFCF1}" presName="connectorText" presStyleLbl="sibTrans1D1" presStyleIdx="3" presStyleCnt="4"/>
      <dgm:spPr/>
    </dgm:pt>
    <dgm:pt modelId="{6F8E5795-213C-43B8-96D5-0617EE4EDD48}" type="pres">
      <dgm:prSet presAssocID="{498E7D8F-4197-4D1F-AD92-58E2CDFDFD21}" presName="node" presStyleLbl="node1" presStyleIdx="4" presStyleCnt="5" custLinFactNeighborX="73860" custLinFactNeighborY="-3943">
        <dgm:presLayoutVars>
          <dgm:bulletEnabled val="1"/>
        </dgm:presLayoutVars>
      </dgm:prSet>
      <dgm:spPr/>
    </dgm:pt>
  </dgm:ptLst>
  <dgm:cxnLst>
    <dgm:cxn modelId="{B1C75107-A5BF-4085-8FA5-30D9BD5EB18E}" type="presOf" srcId="{7D5B5A94-067F-4144-A003-7CE0F65CFCF1}" destId="{0EEA889F-3187-4202-B268-199D85D804C1}" srcOrd="1" destOrd="0" presId="urn:microsoft.com/office/officeart/2016/7/layout/RepeatingBendingProcessNew"/>
    <dgm:cxn modelId="{83BE210A-E304-4F87-91E5-6EE65A9343DC}" srcId="{EB27B240-F74F-4191-8CA3-9C5F3256D01A}" destId="{0261A2B5-0E7F-4C6D-AB28-803B9576673F}" srcOrd="0" destOrd="0" parTransId="{1A7EC7F0-4488-4595-92CB-BA3C7DB14442}" sibTransId="{E75ABD1F-AF99-4BB1-96D4-C04B4D8E9F1C}"/>
    <dgm:cxn modelId="{8F816B1C-714A-4904-AF1E-241B8AD07820}" type="presOf" srcId="{8AD90E02-1625-4A75-903B-A4445B76A15B}" destId="{C8EAB717-E9D2-4D3A-9152-0793C337E0C5}" srcOrd="0" destOrd="0" presId="urn:microsoft.com/office/officeart/2016/7/layout/RepeatingBendingProcessNew"/>
    <dgm:cxn modelId="{FC263C28-BEBF-4737-97E1-2CE2FAE38B61}" type="presOf" srcId="{0261A2B5-0E7F-4C6D-AB28-803B9576673F}" destId="{4B7A024F-8A8E-4531-9FBB-619F31EA6F6F}" srcOrd="0" destOrd="0" presId="urn:microsoft.com/office/officeart/2016/7/layout/RepeatingBendingProcessNew"/>
    <dgm:cxn modelId="{EDEF7F28-9916-4925-90F6-F4DB8E81C8BD}" srcId="{EB27B240-F74F-4191-8CA3-9C5F3256D01A}" destId="{607FCB45-DB26-48D4-A4D5-D5BBB7D8EA1D}" srcOrd="1" destOrd="0" parTransId="{9F7F8E32-552B-4A8A-AA90-F67266894B9C}" sibTransId="{7CCF30C3-2103-42AC-A807-8BCD2F97E8A1}"/>
    <dgm:cxn modelId="{F3E09861-2B77-4D68-BEBF-FDE55B7340F4}" type="presOf" srcId="{E75ABD1F-AF99-4BB1-96D4-C04B4D8E9F1C}" destId="{850CD6C3-32F4-4A97-9273-AD37780D8D8C}" srcOrd="0" destOrd="0" presId="urn:microsoft.com/office/officeart/2016/7/layout/RepeatingBendingProcessNew"/>
    <dgm:cxn modelId="{9A40514C-4DAC-4118-AADF-2D3DD5B72E55}" type="presOf" srcId="{8AD90E02-1625-4A75-903B-A4445B76A15B}" destId="{829703B8-5E88-4E04-BD43-9FE0940D3F2B}" srcOrd="1" destOrd="0" presId="urn:microsoft.com/office/officeart/2016/7/layout/RepeatingBendingProcessNew"/>
    <dgm:cxn modelId="{A482684F-9EB0-463B-979D-11872A03FFB9}" type="presOf" srcId="{7D5B5A94-067F-4144-A003-7CE0F65CFCF1}" destId="{8F08DC8B-20C4-41C0-8420-522472F7C37D}" srcOrd="0" destOrd="0" presId="urn:microsoft.com/office/officeart/2016/7/layout/RepeatingBendingProcessNew"/>
    <dgm:cxn modelId="{12C1517E-D7DB-4F26-9910-9520B2EA7054}" type="presOf" srcId="{826BB5C9-0499-4B0A-AD62-6948BD8FF546}" destId="{C5499AA2-8D44-4CC5-9A41-FCAFA220F68A}" srcOrd="0" destOrd="0" presId="urn:microsoft.com/office/officeart/2016/7/layout/RepeatingBendingProcessNew"/>
    <dgm:cxn modelId="{0A3A817E-9A91-4FA0-A82E-A472FEE903F1}" type="presOf" srcId="{7CCF30C3-2103-42AC-A807-8BCD2F97E8A1}" destId="{7FD6F068-A5AC-49DF-BFD9-2D96FFFA0C95}" srcOrd="1" destOrd="0" presId="urn:microsoft.com/office/officeart/2016/7/layout/RepeatingBendingProcessNew"/>
    <dgm:cxn modelId="{03930CAC-0F5A-4D9B-BDE0-6A911A580FB7}" type="presOf" srcId="{607FCB45-DB26-48D4-A4D5-D5BBB7D8EA1D}" destId="{3EFEA809-653D-4154-ABB9-49D942E7E0BB}" srcOrd="0" destOrd="0" presId="urn:microsoft.com/office/officeart/2016/7/layout/RepeatingBendingProcessNew"/>
    <dgm:cxn modelId="{4FAC9CB1-26E9-4E2F-9E2C-D2D5F071078D}" srcId="{EB27B240-F74F-4191-8CA3-9C5F3256D01A}" destId="{498E7D8F-4197-4D1F-AD92-58E2CDFDFD21}" srcOrd="4" destOrd="0" parTransId="{C05A7339-D9C2-48D7-9DC5-78A4073021BE}" sibTransId="{D3D96D3B-925B-4504-8C4F-5FE0D4CD9E4D}"/>
    <dgm:cxn modelId="{04F768C8-E047-4B3E-A236-7F679FB0DEE9}" type="presOf" srcId="{1A81DBE1-6EE5-49F7-BB5B-0C251B820CAA}" destId="{3490FB96-8A3E-41BB-934E-0B306727774D}" srcOrd="0" destOrd="0" presId="urn:microsoft.com/office/officeart/2016/7/layout/RepeatingBendingProcessNew"/>
    <dgm:cxn modelId="{62144FCA-45D3-40FC-9187-65D0F5904F5B}" srcId="{EB27B240-F74F-4191-8CA3-9C5F3256D01A}" destId="{826BB5C9-0499-4B0A-AD62-6948BD8FF546}" srcOrd="3" destOrd="0" parTransId="{0A0BBA38-52DF-44C7-A65E-8647EF67E444}" sibTransId="{7D5B5A94-067F-4144-A003-7CE0F65CFCF1}"/>
    <dgm:cxn modelId="{B10876CA-832C-425D-A739-09EE58100472}" type="presOf" srcId="{E75ABD1F-AF99-4BB1-96D4-C04B4D8E9F1C}" destId="{0336A58A-74B4-4249-9B8A-54FCB6123A76}" srcOrd="1" destOrd="0" presId="urn:microsoft.com/office/officeart/2016/7/layout/RepeatingBendingProcessNew"/>
    <dgm:cxn modelId="{34CB85E3-A292-47AD-ADEE-4362BA2E80C1}" type="presOf" srcId="{EB27B240-F74F-4191-8CA3-9C5F3256D01A}" destId="{FDF91527-EF91-4F5C-AD58-234CC924B569}" srcOrd="0" destOrd="0" presId="urn:microsoft.com/office/officeart/2016/7/layout/RepeatingBendingProcessNew"/>
    <dgm:cxn modelId="{75AF09E5-A2D5-4D1A-8561-A40486CF115D}" type="presOf" srcId="{498E7D8F-4197-4D1F-AD92-58E2CDFDFD21}" destId="{6F8E5795-213C-43B8-96D5-0617EE4EDD48}" srcOrd="0" destOrd="0" presId="urn:microsoft.com/office/officeart/2016/7/layout/RepeatingBendingProcessNew"/>
    <dgm:cxn modelId="{1A7DB9ED-77CF-46EC-B71D-1CABDE505FE2}" srcId="{EB27B240-F74F-4191-8CA3-9C5F3256D01A}" destId="{1A81DBE1-6EE5-49F7-BB5B-0C251B820CAA}" srcOrd="2" destOrd="0" parTransId="{206CB57E-90EE-4A3D-8B9F-02D2FEFB3B12}" sibTransId="{8AD90E02-1625-4A75-903B-A4445B76A15B}"/>
    <dgm:cxn modelId="{636700F4-DD90-4B82-8CA8-7635A858D6EA}" type="presOf" srcId="{7CCF30C3-2103-42AC-A807-8BCD2F97E8A1}" destId="{D49FB862-EF39-4B80-99E1-6B4D1C4810C9}" srcOrd="0" destOrd="0" presId="urn:microsoft.com/office/officeart/2016/7/layout/RepeatingBendingProcessNew"/>
    <dgm:cxn modelId="{112A2332-EA6C-425C-8D55-3330F01F5885}" type="presParOf" srcId="{FDF91527-EF91-4F5C-AD58-234CC924B569}" destId="{4B7A024F-8A8E-4531-9FBB-619F31EA6F6F}" srcOrd="0" destOrd="0" presId="urn:microsoft.com/office/officeart/2016/7/layout/RepeatingBendingProcessNew"/>
    <dgm:cxn modelId="{39C5E4CF-4785-4981-9DBA-48D38B113389}" type="presParOf" srcId="{FDF91527-EF91-4F5C-AD58-234CC924B569}" destId="{850CD6C3-32F4-4A97-9273-AD37780D8D8C}" srcOrd="1" destOrd="0" presId="urn:microsoft.com/office/officeart/2016/7/layout/RepeatingBendingProcessNew"/>
    <dgm:cxn modelId="{148A3E92-9DDE-45D0-8350-C83AB8750588}" type="presParOf" srcId="{850CD6C3-32F4-4A97-9273-AD37780D8D8C}" destId="{0336A58A-74B4-4249-9B8A-54FCB6123A76}" srcOrd="0" destOrd="0" presId="urn:microsoft.com/office/officeart/2016/7/layout/RepeatingBendingProcessNew"/>
    <dgm:cxn modelId="{0134533D-6603-4566-B0E2-D551F6853C11}" type="presParOf" srcId="{FDF91527-EF91-4F5C-AD58-234CC924B569}" destId="{3EFEA809-653D-4154-ABB9-49D942E7E0BB}" srcOrd="2" destOrd="0" presId="urn:microsoft.com/office/officeart/2016/7/layout/RepeatingBendingProcessNew"/>
    <dgm:cxn modelId="{632F2ACE-547C-43AC-AFF5-970D19D6BDF0}" type="presParOf" srcId="{FDF91527-EF91-4F5C-AD58-234CC924B569}" destId="{D49FB862-EF39-4B80-99E1-6B4D1C4810C9}" srcOrd="3" destOrd="0" presId="urn:microsoft.com/office/officeart/2016/7/layout/RepeatingBendingProcessNew"/>
    <dgm:cxn modelId="{40F03000-395A-41C1-98E2-A6EF51E26768}" type="presParOf" srcId="{D49FB862-EF39-4B80-99E1-6B4D1C4810C9}" destId="{7FD6F068-A5AC-49DF-BFD9-2D96FFFA0C95}" srcOrd="0" destOrd="0" presId="urn:microsoft.com/office/officeart/2016/7/layout/RepeatingBendingProcessNew"/>
    <dgm:cxn modelId="{39F30FF2-F443-4A3F-B657-251B6CEB8F2E}" type="presParOf" srcId="{FDF91527-EF91-4F5C-AD58-234CC924B569}" destId="{3490FB96-8A3E-41BB-934E-0B306727774D}" srcOrd="4" destOrd="0" presId="urn:microsoft.com/office/officeart/2016/7/layout/RepeatingBendingProcessNew"/>
    <dgm:cxn modelId="{554B5284-8D8A-4DDF-A0D2-A5FD2567EE6D}" type="presParOf" srcId="{FDF91527-EF91-4F5C-AD58-234CC924B569}" destId="{C8EAB717-E9D2-4D3A-9152-0793C337E0C5}" srcOrd="5" destOrd="0" presId="urn:microsoft.com/office/officeart/2016/7/layout/RepeatingBendingProcessNew"/>
    <dgm:cxn modelId="{966BA2B5-289E-4089-AE73-99C373AE1551}" type="presParOf" srcId="{C8EAB717-E9D2-4D3A-9152-0793C337E0C5}" destId="{829703B8-5E88-4E04-BD43-9FE0940D3F2B}" srcOrd="0" destOrd="0" presId="urn:microsoft.com/office/officeart/2016/7/layout/RepeatingBendingProcessNew"/>
    <dgm:cxn modelId="{9421A3C0-B8E2-4130-AD1E-35BD7C84F04F}" type="presParOf" srcId="{FDF91527-EF91-4F5C-AD58-234CC924B569}" destId="{C5499AA2-8D44-4CC5-9A41-FCAFA220F68A}" srcOrd="6" destOrd="0" presId="urn:microsoft.com/office/officeart/2016/7/layout/RepeatingBendingProcessNew"/>
    <dgm:cxn modelId="{1F055212-1561-4A1E-B797-ACF5396E499C}" type="presParOf" srcId="{FDF91527-EF91-4F5C-AD58-234CC924B569}" destId="{8F08DC8B-20C4-41C0-8420-522472F7C37D}" srcOrd="7" destOrd="0" presId="urn:microsoft.com/office/officeart/2016/7/layout/RepeatingBendingProcessNew"/>
    <dgm:cxn modelId="{5923EF62-C96D-43FE-839B-614F07CE1FC2}" type="presParOf" srcId="{8F08DC8B-20C4-41C0-8420-522472F7C37D}" destId="{0EEA889F-3187-4202-B268-199D85D804C1}" srcOrd="0" destOrd="0" presId="urn:microsoft.com/office/officeart/2016/7/layout/RepeatingBendingProcessNew"/>
    <dgm:cxn modelId="{9A2F67CE-4FC8-4B3E-8889-F6B7374E8A16}" type="presParOf" srcId="{FDF91527-EF91-4F5C-AD58-234CC924B569}" destId="{6F8E5795-213C-43B8-96D5-0617EE4EDD48}" srcOrd="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0152772-F4ED-42B0-85B9-810226FA8222}" type="doc">
      <dgm:prSet loTypeId="urn:microsoft.com/office/officeart/2016/7/layout/LinearArrowProcessNumbered" loCatId="process" qsTypeId="urn:microsoft.com/office/officeart/2005/8/quickstyle/simple1" qsCatId="simple" csTypeId="urn:microsoft.com/office/officeart/2005/8/colors/colorful1" csCatId="colorful" phldr="1"/>
      <dgm:spPr/>
      <dgm:t>
        <a:bodyPr/>
        <a:lstStyle/>
        <a:p>
          <a:endParaRPr lang="en-US"/>
        </a:p>
      </dgm:t>
    </dgm:pt>
    <dgm:pt modelId="{12343ECC-13BA-48D0-8702-7F0AB41F82B3}">
      <dgm:prSet phldr="0"/>
      <dgm:spPr/>
      <dgm:t>
        <a:bodyPr/>
        <a:lstStyle/>
        <a:p>
          <a:r>
            <a:rPr lang="en-GB" dirty="0"/>
            <a:t>⦁    Identification of related metabolic pathways of  breast cancer </a:t>
          </a:r>
        </a:p>
      </dgm:t>
    </dgm:pt>
    <dgm:pt modelId="{D7A2360C-921E-406E-8F57-7F764CC30EE5}" type="parTrans" cxnId="{A36F96B4-98C3-4015-A956-44ECAF20F586}">
      <dgm:prSet/>
      <dgm:spPr/>
      <dgm:t>
        <a:bodyPr/>
        <a:lstStyle/>
        <a:p>
          <a:endParaRPr lang="en-US"/>
        </a:p>
      </dgm:t>
    </dgm:pt>
    <dgm:pt modelId="{B56BA4BF-7648-4A4D-9BE6-0FCF06401767}" type="sibTrans" cxnId="{A36F96B4-98C3-4015-A956-44ECAF20F586}">
      <dgm:prSet phldrT="2" phldr="0"/>
      <dgm:spPr/>
      <dgm:t>
        <a:bodyPr/>
        <a:lstStyle/>
        <a:p>
          <a:r>
            <a:rPr lang="en-US"/>
            <a:t>2</a:t>
          </a:r>
        </a:p>
      </dgm:t>
    </dgm:pt>
    <dgm:pt modelId="{37EE11EE-8643-4AC6-9C9B-F32C8EAF9569}">
      <dgm:prSet phldr="0"/>
      <dgm:spPr/>
      <dgm:t>
        <a:bodyPr/>
        <a:lstStyle/>
        <a:p>
          <a:pPr algn="l" rtl="0"/>
          <a:r>
            <a:rPr lang="en-GB" dirty="0"/>
            <a:t>⦁    Identification of differentially expressed genes</a:t>
          </a:r>
          <a:endParaRPr lang="en-GB" dirty="0">
            <a:latin typeface="Aptos Display" panose="020F0302020204030204"/>
          </a:endParaRPr>
        </a:p>
      </dgm:t>
    </dgm:pt>
    <dgm:pt modelId="{5FAA5F70-84C6-4C84-B9D2-7FCE6361CD24}" type="parTrans" cxnId="{07A7D931-869A-49E8-8B5C-DDDF4FFAAC62}">
      <dgm:prSet/>
      <dgm:spPr/>
      <dgm:t>
        <a:bodyPr/>
        <a:lstStyle/>
        <a:p>
          <a:endParaRPr lang="en-PK"/>
        </a:p>
      </dgm:t>
    </dgm:pt>
    <dgm:pt modelId="{11E9333F-6D88-45F2-960D-62F3241178E9}" type="sibTrans" cxnId="{07A7D931-869A-49E8-8B5C-DDDF4FFAAC62}">
      <dgm:prSet phldrT="1" phldr="0"/>
      <dgm:spPr/>
      <dgm:t>
        <a:bodyPr/>
        <a:lstStyle/>
        <a:p>
          <a:r>
            <a:rPr lang="en-GB"/>
            <a:t>1</a:t>
          </a:r>
        </a:p>
      </dgm:t>
    </dgm:pt>
    <dgm:pt modelId="{888305FC-5F07-4EB2-A319-0B506AE5F1EE}" type="pres">
      <dgm:prSet presAssocID="{B0152772-F4ED-42B0-85B9-810226FA8222}" presName="linearFlow" presStyleCnt="0">
        <dgm:presLayoutVars>
          <dgm:dir/>
          <dgm:animLvl val="lvl"/>
          <dgm:resizeHandles val="exact"/>
        </dgm:presLayoutVars>
      </dgm:prSet>
      <dgm:spPr/>
    </dgm:pt>
    <dgm:pt modelId="{F77E5F63-0836-46AC-ABB2-BA3D73F17D57}" type="pres">
      <dgm:prSet presAssocID="{37EE11EE-8643-4AC6-9C9B-F32C8EAF9569}" presName="compositeNode" presStyleCnt="0"/>
      <dgm:spPr/>
    </dgm:pt>
    <dgm:pt modelId="{DCA336E1-C827-453D-BC23-8FCBD235FD63}" type="pres">
      <dgm:prSet presAssocID="{37EE11EE-8643-4AC6-9C9B-F32C8EAF9569}" presName="parTx" presStyleLbl="node1" presStyleIdx="0" presStyleCnt="0">
        <dgm:presLayoutVars>
          <dgm:chMax val="0"/>
          <dgm:chPref val="0"/>
          <dgm:bulletEnabled val="1"/>
        </dgm:presLayoutVars>
      </dgm:prSet>
      <dgm:spPr/>
    </dgm:pt>
    <dgm:pt modelId="{1E970740-9CF8-49B2-9887-8295A9013622}" type="pres">
      <dgm:prSet presAssocID="{37EE11EE-8643-4AC6-9C9B-F32C8EAF9569}" presName="parSh" presStyleCnt="0"/>
      <dgm:spPr/>
    </dgm:pt>
    <dgm:pt modelId="{A1279F3D-3602-4968-A60B-3DE1B2FC108B}" type="pres">
      <dgm:prSet presAssocID="{37EE11EE-8643-4AC6-9C9B-F32C8EAF9569}" presName="lineNode" presStyleLbl="alignAccFollowNode1" presStyleIdx="0" presStyleCnt="6"/>
      <dgm:spPr/>
    </dgm:pt>
    <dgm:pt modelId="{1ED150BC-27D9-4A36-8650-FB60E72118FB}" type="pres">
      <dgm:prSet presAssocID="{37EE11EE-8643-4AC6-9C9B-F32C8EAF9569}" presName="lineArrowNode" presStyleLbl="alignAccFollowNode1" presStyleIdx="1" presStyleCnt="6"/>
      <dgm:spPr/>
    </dgm:pt>
    <dgm:pt modelId="{8C78643B-31F8-4328-A52D-0FDCE7B609E8}" type="pres">
      <dgm:prSet presAssocID="{11E9333F-6D88-45F2-960D-62F3241178E9}" presName="sibTransNodeCircle" presStyleLbl="alignNode1" presStyleIdx="0" presStyleCnt="2">
        <dgm:presLayoutVars>
          <dgm:chMax val="0"/>
          <dgm:bulletEnabled/>
        </dgm:presLayoutVars>
      </dgm:prSet>
      <dgm:spPr/>
    </dgm:pt>
    <dgm:pt modelId="{CD3C7D71-6B23-4A46-91D6-10A1137390BF}" type="pres">
      <dgm:prSet presAssocID="{11E9333F-6D88-45F2-960D-62F3241178E9}" presName="spacerBetweenCircleAndCallout" presStyleCnt="0">
        <dgm:presLayoutVars/>
      </dgm:prSet>
      <dgm:spPr/>
    </dgm:pt>
    <dgm:pt modelId="{09EEB311-B16C-47A2-905B-502129B2E368}" type="pres">
      <dgm:prSet presAssocID="{37EE11EE-8643-4AC6-9C9B-F32C8EAF9569}" presName="nodeText" presStyleLbl="alignAccFollowNode1" presStyleIdx="2" presStyleCnt="6">
        <dgm:presLayoutVars>
          <dgm:bulletEnabled val="1"/>
        </dgm:presLayoutVars>
      </dgm:prSet>
      <dgm:spPr/>
    </dgm:pt>
    <dgm:pt modelId="{AE12D5B9-46B5-430A-8AEB-F30E8786966E}" type="pres">
      <dgm:prSet presAssocID="{11E9333F-6D88-45F2-960D-62F3241178E9}" presName="sibTransComposite" presStyleCnt="0"/>
      <dgm:spPr/>
    </dgm:pt>
    <dgm:pt modelId="{8901A65F-304C-4FFD-9838-731AA56CFDBD}" type="pres">
      <dgm:prSet presAssocID="{12343ECC-13BA-48D0-8702-7F0AB41F82B3}" presName="compositeNode" presStyleCnt="0"/>
      <dgm:spPr/>
    </dgm:pt>
    <dgm:pt modelId="{F0333558-1C81-4F33-BF01-DCADC706D616}" type="pres">
      <dgm:prSet presAssocID="{12343ECC-13BA-48D0-8702-7F0AB41F82B3}" presName="parTx" presStyleLbl="node1" presStyleIdx="0" presStyleCnt="0">
        <dgm:presLayoutVars>
          <dgm:chMax val="0"/>
          <dgm:chPref val="0"/>
          <dgm:bulletEnabled val="1"/>
        </dgm:presLayoutVars>
      </dgm:prSet>
      <dgm:spPr/>
    </dgm:pt>
    <dgm:pt modelId="{977ECD36-C180-4F6A-A18E-95E6DAB1E9F9}" type="pres">
      <dgm:prSet presAssocID="{12343ECC-13BA-48D0-8702-7F0AB41F82B3}" presName="parSh" presStyleCnt="0"/>
      <dgm:spPr/>
    </dgm:pt>
    <dgm:pt modelId="{8317E767-1F9C-4FD5-909B-4C3B74FB16CF}" type="pres">
      <dgm:prSet presAssocID="{12343ECC-13BA-48D0-8702-7F0AB41F82B3}" presName="lineNode" presStyleLbl="alignAccFollowNode1" presStyleIdx="3" presStyleCnt="6"/>
      <dgm:spPr/>
    </dgm:pt>
    <dgm:pt modelId="{711FF4B1-14F4-47C8-A7FB-9C94F1A33FBF}" type="pres">
      <dgm:prSet presAssocID="{12343ECC-13BA-48D0-8702-7F0AB41F82B3}" presName="lineArrowNode" presStyleLbl="alignAccFollowNode1" presStyleIdx="4" presStyleCnt="6"/>
      <dgm:spPr/>
    </dgm:pt>
    <dgm:pt modelId="{6FCA0B59-8C28-4291-AB3F-4DA249373C8A}" type="pres">
      <dgm:prSet presAssocID="{B56BA4BF-7648-4A4D-9BE6-0FCF06401767}" presName="sibTransNodeCircle" presStyleLbl="alignNode1" presStyleIdx="1" presStyleCnt="2">
        <dgm:presLayoutVars>
          <dgm:chMax val="0"/>
          <dgm:bulletEnabled/>
        </dgm:presLayoutVars>
      </dgm:prSet>
      <dgm:spPr/>
    </dgm:pt>
    <dgm:pt modelId="{8608AD3A-F2AE-42DF-9633-D40FBDF0AE6C}" type="pres">
      <dgm:prSet presAssocID="{B56BA4BF-7648-4A4D-9BE6-0FCF06401767}" presName="spacerBetweenCircleAndCallout" presStyleCnt="0">
        <dgm:presLayoutVars/>
      </dgm:prSet>
      <dgm:spPr/>
    </dgm:pt>
    <dgm:pt modelId="{39C42DBF-B1B1-4D1C-B443-163E9856C57F}" type="pres">
      <dgm:prSet presAssocID="{12343ECC-13BA-48D0-8702-7F0AB41F82B3}" presName="nodeText" presStyleLbl="alignAccFollowNode1" presStyleIdx="5" presStyleCnt="6">
        <dgm:presLayoutVars>
          <dgm:bulletEnabled val="1"/>
        </dgm:presLayoutVars>
      </dgm:prSet>
      <dgm:spPr/>
    </dgm:pt>
  </dgm:ptLst>
  <dgm:cxnLst>
    <dgm:cxn modelId="{07A7D931-869A-49E8-8B5C-DDDF4FFAAC62}" srcId="{B0152772-F4ED-42B0-85B9-810226FA8222}" destId="{37EE11EE-8643-4AC6-9C9B-F32C8EAF9569}" srcOrd="0" destOrd="0" parTransId="{5FAA5F70-84C6-4C84-B9D2-7FCE6361CD24}" sibTransId="{11E9333F-6D88-45F2-960D-62F3241178E9}"/>
    <dgm:cxn modelId="{D4443054-7474-40D2-863D-4702F47A67F5}" type="presOf" srcId="{11E9333F-6D88-45F2-960D-62F3241178E9}" destId="{8C78643B-31F8-4328-A52D-0FDCE7B609E8}" srcOrd="0" destOrd="0" presId="urn:microsoft.com/office/officeart/2016/7/layout/LinearArrowProcessNumbered"/>
    <dgm:cxn modelId="{20D44556-6A52-4DC1-9C5C-EFE47A6870F8}" type="presOf" srcId="{12343ECC-13BA-48D0-8702-7F0AB41F82B3}" destId="{39C42DBF-B1B1-4D1C-B443-163E9856C57F}" srcOrd="0" destOrd="0" presId="urn:microsoft.com/office/officeart/2016/7/layout/LinearArrowProcessNumbered"/>
    <dgm:cxn modelId="{BD4D79B4-6277-4E2A-97C5-D1B60B3231FB}" type="presOf" srcId="{B0152772-F4ED-42B0-85B9-810226FA8222}" destId="{888305FC-5F07-4EB2-A319-0B506AE5F1EE}" srcOrd="0" destOrd="0" presId="urn:microsoft.com/office/officeart/2016/7/layout/LinearArrowProcessNumbered"/>
    <dgm:cxn modelId="{A36F96B4-98C3-4015-A956-44ECAF20F586}" srcId="{B0152772-F4ED-42B0-85B9-810226FA8222}" destId="{12343ECC-13BA-48D0-8702-7F0AB41F82B3}" srcOrd="1" destOrd="0" parTransId="{D7A2360C-921E-406E-8F57-7F764CC30EE5}" sibTransId="{B56BA4BF-7648-4A4D-9BE6-0FCF06401767}"/>
    <dgm:cxn modelId="{47C617C3-747C-454B-A67F-0644BA9FEBAE}" type="presOf" srcId="{B56BA4BF-7648-4A4D-9BE6-0FCF06401767}" destId="{6FCA0B59-8C28-4291-AB3F-4DA249373C8A}" srcOrd="0" destOrd="0" presId="urn:microsoft.com/office/officeart/2016/7/layout/LinearArrowProcessNumbered"/>
    <dgm:cxn modelId="{1C5B45C7-1A80-46AB-8B38-3D68BC6D9D7A}" type="presOf" srcId="{37EE11EE-8643-4AC6-9C9B-F32C8EAF9569}" destId="{09EEB311-B16C-47A2-905B-502129B2E368}" srcOrd="0" destOrd="0" presId="urn:microsoft.com/office/officeart/2016/7/layout/LinearArrowProcessNumbered"/>
    <dgm:cxn modelId="{C225F248-38EF-4BE6-8BEF-A2BE725A1AB6}" type="presParOf" srcId="{888305FC-5F07-4EB2-A319-0B506AE5F1EE}" destId="{F77E5F63-0836-46AC-ABB2-BA3D73F17D57}" srcOrd="0" destOrd="0" presId="urn:microsoft.com/office/officeart/2016/7/layout/LinearArrowProcessNumbered"/>
    <dgm:cxn modelId="{22CD1A32-1C3C-45CF-A576-4A7A141087B5}" type="presParOf" srcId="{F77E5F63-0836-46AC-ABB2-BA3D73F17D57}" destId="{DCA336E1-C827-453D-BC23-8FCBD235FD63}" srcOrd="0" destOrd="0" presId="urn:microsoft.com/office/officeart/2016/7/layout/LinearArrowProcessNumbered"/>
    <dgm:cxn modelId="{1188092D-551E-4879-B0F4-3FF6E0281DB1}" type="presParOf" srcId="{F77E5F63-0836-46AC-ABB2-BA3D73F17D57}" destId="{1E970740-9CF8-49B2-9887-8295A9013622}" srcOrd="1" destOrd="0" presId="urn:microsoft.com/office/officeart/2016/7/layout/LinearArrowProcessNumbered"/>
    <dgm:cxn modelId="{BDE158F3-F308-4F20-831A-66636EFE1A8E}" type="presParOf" srcId="{1E970740-9CF8-49B2-9887-8295A9013622}" destId="{A1279F3D-3602-4968-A60B-3DE1B2FC108B}" srcOrd="0" destOrd="0" presId="urn:microsoft.com/office/officeart/2016/7/layout/LinearArrowProcessNumbered"/>
    <dgm:cxn modelId="{CB753353-1257-47EF-826D-8796D7FBF5B0}" type="presParOf" srcId="{1E970740-9CF8-49B2-9887-8295A9013622}" destId="{1ED150BC-27D9-4A36-8650-FB60E72118FB}" srcOrd="1" destOrd="0" presId="urn:microsoft.com/office/officeart/2016/7/layout/LinearArrowProcessNumbered"/>
    <dgm:cxn modelId="{B4DD680C-70BB-4520-BE74-16717600A2F4}" type="presParOf" srcId="{1E970740-9CF8-49B2-9887-8295A9013622}" destId="{8C78643B-31F8-4328-A52D-0FDCE7B609E8}" srcOrd="2" destOrd="0" presId="urn:microsoft.com/office/officeart/2016/7/layout/LinearArrowProcessNumbered"/>
    <dgm:cxn modelId="{72513B58-61CF-45ED-98D6-764E9D49DA81}" type="presParOf" srcId="{1E970740-9CF8-49B2-9887-8295A9013622}" destId="{CD3C7D71-6B23-4A46-91D6-10A1137390BF}" srcOrd="3" destOrd="0" presId="urn:microsoft.com/office/officeart/2016/7/layout/LinearArrowProcessNumbered"/>
    <dgm:cxn modelId="{27DB47F9-406A-4F3A-BD7F-E93B4DCFDCD1}" type="presParOf" srcId="{F77E5F63-0836-46AC-ABB2-BA3D73F17D57}" destId="{09EEB311-B16C-47A2-905B-502129B2E368}" srcOrd="2" destOrd="0" presId="urn:microsoft.com/office/officeart/2016/7/layout/LinearArrowProcessNumbered"/>
    <dgm:cxn modelId="{793F8D86-2F99-4B39-932E-BCFDF0FBC896}" type="presParOf" srcId="{888305FC-5F07-4EB2-A319-0B506AE5F1EE}" destId="{AE12D5B9-46B5-430A-8AEB-F30E8786966E}" srcOrd="1" destOrd="0" presId="urn:microsoft.com/office/officeart/2016/7/layout/LinearArrowProcessNumbered"/>
    <dgm:cxn modelId="{367CB9C6-6A42-47E6-8173-6C1196492AB2}" type="presParOf" srcId="{888305FC-5F07-4EB2-A319-0B506AE5F1EE}" destId="{8901A65F-304C-4FFD-9838-731AA56CFDBD}" srcOrd="2" destOrd="0" presId="urn:microsoft.com/office/officeart/2016/7/layout/LinearArrowProcessNumbered"/>
    <dgm:cxn modelId="{484E2056-5957-4DE1-BB12-01957EB601C6}" type="presParOf" srcId="{8901A65F-304C-4FFD-9838-731AA56CFDBD}" destId="{F0333558-1C81-4F33-BF01-DCADC706D616}" srcOrd="0" destOrd="0" presId="urn:microsoft.com/office/officeart/2016/7/layout/LinearArrowProcessNumbered"/>
    <dgm:cxn modelId="{85A92DDE-8E10-4DC9-BF39-1350618469E5}" type="presParOf" srcId="{8901A65F-304C-4FFD-9838-731AA56CFDBD}" destId="{977ECD36-C180-4F6A-A18E-95E6DAB1E9F9}" srcOrd="1" destOrd="0" presId="urn:microsoft.com/office/officeart/2016/7/layout/LinearArrowProcessNumbered"/>
    <dgm:cxn modelId="{DB290903-5855-4C0E-AB78-A95B40F933E1}" type="presParOf" srcId="{977ECD36-C180-4F6A-A18E-95E6DAB1E9F9}" destId="{8317E767-1F9C-4FD5-909B-4C3B74FB16CF}" srcOrd="0" destOrd="0" presId="urn:microsoft.com/office/officeart/2016/7/layout/LinearArrowProcessNumbered"/>
    <dgm:cxn modelId="{25DECFA4-6320-4FF2-84F4-B6740817E801}" type="presParOf" srcId="{977ECD36-C180-4F6A-A18E-95E6DAB1E9F9}" destId="{711FF4B1-14F4-47C8-A7FB-9C94F1A33FBF}" srcOrd="1" destOrd="0" presId="urn:microsoft.com/office/officeart/2016/7/layout/LinearArrowProcessNumbered"/>
    <dgm:cxn modelId="{17DC7AEC-42FA-4F44-B2EE-CD49FD4855BC}" type="presParOf" srcId="{977ECD36-C180-4F6A-A18E-95E6DAB1E9F9}" destId="{6FCA0B59-8C28-4291-AB3F-4DA249373C8A}" srcOrd="2" destOrd="0" presId="urn:microsoft.com/office/officeart/2016/7/layout/LinearArrowProcessNumbered"/>
    <dgm:cxn modelId="{D41858D6-FF6A-43FB-B3B2-F3BF88F13279}" type="presParOf" srcId="{977ECD36-C180-4F6A-A18E-95E6DAB1E9F9}" destId="{8608AD3A-F2AE-42DF-9633-D40FBDF0AE6C}" srcOrd="3" destOrd="0" presId="urn:microsoft.com/office/officeart/2016/7/layout/LinearArrowProcessNumbered"/>
    <dgm:cxn modelId="{30DEF73B-97C5-453B-9247-AFE08AE47008}" type="presParOf" srcId="{8901A65F-304C-4FFD-9838-731AA56CFDBD}" destId="{39C42DBF-B1B1-4D1C-B443-163E9856C57F}"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0CD6C3-32F4-4A97-9273-AD37780D8D8C}">
      <dsp:nvSpPr>
        <dsp:cNvPr id="0" name=""/>
        <dsp:cNvSpPr/>
      </dsp:nvSpPr>
      <dsp:spPr>
        <a:xfrm>
          <a:off x="2304317" y="612089"/>
          <a:ext cx="472656" cy="91440"/>
        </a:xfrm>
        <a:custGeom>
          <a:avLst/>
          <a:gdLst/>
          <a:ahLst/>
          <a:cxnLst/>
          <a:rect l="0" t="0" r="0" b="0"/>
          <a:pathLst>
            <a:path>
              <a:moveTo>
                <a:pt x="0" y="45720"/>
              </a:moveTo>
              <a:lnTo>
                <a:pt x="472656"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28064" y="655293"/>
        <a:ext cx="25162" cy="5032"/>
      </dsp:txXfrm>
    </dsp:sp>
    <dsp:sp modelId="{4B7A024F-8A8E-4531-9FBB-619F31EA6F6F}">
      <dsp:nvSpPr>
        <dsp:cNvPr id="0" name=""/>
        <dsp:cNvSpPr/>
      </dsp:nvSpPr>
      <dsp:spPr>
        <a:xfrm>
          <a:off x="118045" y="1388"/>
          <a:ext cx="2188071" cy="131284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217" tIns="112543" rIns="107217" bIns="112543" numCol="1" spcCol="1270" anchor="ctr" anchorCtr="0">
          <a:noAutofit/>
        </a:bodyPr>
        <a:lstStyle/>
        <a:p>
          <a:pPr marL="0" lvl="0" indent="0" algn="ctr" defTabSz="1200150">
            <a:lnSpc>
              <a:spcPct val="90000"/>
            </a:lnSpc>
            <a:spcBef>
              <a:spcPct val="0"/>
            </a:spcBef>
            <a:spcAft>
              <a:spcPct val="35000"/>
            </a:spcAft>
            <a:buNone/>
          </a:pPr>
          <a:r>
            <a:rPr lang="en-US" sz="2700" kern="1200" dirty="0"/>
            <a:t>Introduction</a:t>
          </a:r>
        </a:p>
      </dsp:txBody>
      <dsp:txXfrm>
        <a:off x="118045" y="1388"/>
        <a:ext cx="2188071" cy="1312842"/>
      </dsp:txXfrm>
    </dsp:sp>
    <dsp:sp modelId="{D49FB862-EF39-4B80-99E1-6B4D1C4810C9}">
      <dsp:nvSpPr>
        <dsp:cNvPr id="0" name=""/>
        <dsp:cNvSpPr/>
      </dsp:nvSpPr>
      <dsp:spPr>
        <a:xfrm>
          <a:off x="1212081" y="1312431"/>
          <a:ext cx="2691327" cy="472656"/>
        </a:xfrm>
        <a:custGeom>
          <a:avLst/>
          <a:gdLst/>
          <a:ahLst/>
          <a:cxnLst/>
          <a:rect l="0" t="0" r="0" b="0"/>
          <a:pathLst>
            <a:path>
              <a:moveTo>
                <a:pt x="2691327" y="0"/>
              </a:moveTo>
              <a:lnTo>
                <a:pt x="2691327" y="253428"/>
              </a:lnTo>
              <a:lnTo>
                <a:pt x="0" y="253428"/>
              </a:lnTo>
              <a:lnTo>
                <a:pt x="0" y="472656"/>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89296" y="1546243"/>
        <a:ext cx="136898" cy="5032"/>
      </dsp:txXfrm>
    </dsp:sp>
    <dsp:sp modelId="{3EFEA809-653D-4154-ABB9-49D942E7E0BB}">
      <dsp:nvSpPr>
        <dsp:cNvPr id="0" name=""/>
        <dsp:cNvSpPr/>
      </dsp:nvSpPr>
      <dsp:spPr>
        <a:xfrm>
          <a:off x="2809373" y="1388"/>
          <a:ext cx="2188071" cy="131284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217" tIns="112543" rIns="107217" bIns="112543" numCol="1" spcCol="1270" anchor="ctr" anchorCtr="0">
          <a:noAutofit/>
        </a:bodyPr>
        <a:lstStyle/>
        <a:p>
          <a:pPr marL="0" lvl="0" indent="0" algn="ctr" defTabSz="1200150">
            <a:lnSpc>
              <a:spcPct val="90000"/>
            </a:lnSpc>
            <a:spcBef>
              <a:spcPct val="0"/>
            </a:spcBef>
            <a:spcAft>
              <a:spcPct val="35000"/>
            </a:spcAft>
            <a:buNone/>
          </a:pPr>
          <a:r>
            <a:rPr lang="en-US" sz="2700" kern="1200"/>
            <a:t>Objectives</a:t>
          </a:r>
        </a:p>
      </dsp:txBody>
      <dsp:txXfrm>
        <a:off x="2809373" y="1388"/>
        <a:ext cx="2188071" cy="1312842"/>
      </dsp:txXfrm>
    </dsp:sp>
    <dsp:sp modelId="{C8EAB717-E9D2-4D3A-9152-0793C337E0C5}">
      <dsp:nvSpPr>
        <dsp:cNvPr id="0" name=""/>
        <dsp:cNvSpPr/>
      </dsp:nvSpPr>
      <dsp:spPr>
        <a:xfrm>
          <a:off x="2304317" y="2428189"/>
          <a:ext cx="472656" cy="91440"/>
        </a:xfrm>
        <a:custGeom>
          <a:avLst/>
          <a:gdLst/>
          <a:ahLst/>
          <a:cxnLst/>
          <a:rect l="0" t="0" r="0" b="0"/>
          <a:pathLst>
            <a:path>
              <a:moveTo>
                <a:pt x="0" y="45720"/>
              </a:moveTo>
              <a:lnTo>
                <a:pt x="472656"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28064" y="2471392"/>
        <a:ext cx="25162" cy="5032"/>
      </dsp:txXfrm>
    </dsp:sp>
    <dsp:sp modelId="{3490FB96-8A3E-41BB-934E-0B306727774D}">
      <dsp:nvSpPr>
        <dsp:cNvPr id="0" name=""/>
        <dsp:cNvSpPr/>
      </dsp:nvSpPr>
      <dsp:spPr>
        <a:xfrm>
          <a:off x="118045" y="1817487"/>
          <a:ext cx="2188071" cy="131284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217" tIns="112543" rIns="107217" bIns="112543" numCol="1" spcCol="1270" anchor="ctr" anchorCtr="0">
          <a:noAutofit/>
        </a:bodyPr>
        <a:lstStyle/>
        <a:p>
          <a:pPr marL="0" lvl="0" indent="0" algn="ctr" defTabSz="1200150">
            <a:lnSpc>
              <a:spcPct val="90000"/>
            </a:lnSpc>
            <a:spcBef>
              <a:spcPct val="0"/>
            </a:spcBef>
            <a:spcAft>
              <a:spcPct val="35000"/>
            </a:spcAft>
            <a:buNone/>
          </a:pPr>
          <a:r>
            <a:rPr lang="en-US" sz="2700" kern="1200"/>
            <a:t>Methodology</a:t>
          </a:r>
        </a:p>
      </dsp:txBody>
      <dsp:txXfrm>
        <a:off x="118045" y="1817487"/>
        <a:ext cx="2188071" cy="1312842"/>
      </dsp:txXfrm>
    </dsp:sp>
    <dsp:sp modelId="{8F08DC8B-20C4-41C0-8420-522472F7C37D}">
      <dsp:nvSpPr>
        <dsp:cNvPr id="0" name=""/>
        <dsp:cNvSpPr/>
      </dsp:nvSpPr>
      <dsp:spPr>
        <a:xfrm>
          <a:off x="2828191" y="3128530"/>
          <a:ext cx="1075218" cy="420891"/>
        </a:xfrm>
        <a:custGeom>
          <a:avLst/>
          <a:gdLst/>
          <a:ahLst/>
          <a:cxnLst/>
          <a:rect l="0" t="0" r="0" b="0"/>
          <a:pathLst>
            <a:path>
              <a:moveTo>
                <a:pt x="1075218" y="0"/>
              </a:moveTo>
              <a:lnTo>
                <a:pt x="1075218" y="227545"/>
              </a:lnTo>
              <a:lnTo>
                <a:pt x="0" y="227545"/>
              </a:lnTo>
              <a:lnTo>
                <a:pt x="0" y="420891"/>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36646" y="3336459"/>
        <a:ext cx="58308" cy="5032"/>
      </dsp:txXfrm>
    </dsp:sp>
    <dsp:sp modelId="{C5499AA2-8D44-4CC5-9A41-FCAFA220F68A}">
      <dsp:nvSpPr>
        <dsp:cNvPr id="0" name=""/>
        <dsp:cNvSpPr/>
      </dsp:nvSpPr>
      <dsp:spPr>
        <a:xfrm>
          <a:off x="2809373" y="1817487"/>
          <a:ext cx="2188071" cy="131284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217" tIns="112543" rIns="107217" bIns="112543" numCol="1" spcCol="1270" anchor="ctr" anchorCtr="0">
          <a:noAutofit/>
        </a:bodyPr>
        <a:lstStyle/>
        <a:p>
          <a:pPr marL="0" lvl="0" indent="0" algn="ctr" defTabSz="1200150">
            <a:lnSpc>
              <a:spcPct val="90000"/>
            </a:lnSpc>
            <a:spcBef>
              <a:spcPct val="0"/>
            </a:spcBef>
            <a:spcAft>
              <a:spcPct val="35000"/>
            </a:spcAft>
            <a:buNone/>
          </a:pPr>
          <a:r>
            <a:rPr lang="en-US" sz="2700" kern="1200"/>
            <a:t>Results</a:t>
          </a:r>
        </a:p>
      </dsp:txBody>
      <dsp:txXfrm>
        <a:off x="2809373" y="1817487"/>
        <a:ext cx="2188071" cy="1312842"/>
      </dsp:txXfrm>
    </dsp:sp>
    <dsp:sp modelId="{6F8E5795-213C-43B8-96D5-0617EE4EDD48}">
      <dsp:nvSpPr>
        <dsp:cNvPr id="0" name=""/>
        <dsp:cNvSpPr/>
      </dsp:nvSpPr>
      <dsp:spPr>
        <a:xfrm>
          <a:off x="1734155" y="3581821"/>
          <a:ext cx="2188071" cy="131284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217" tIns="112543" rIns="107217" bIns="112543" numCol="1" spcCol="1270" anchor="ctr" anchorCtr="0">
          <a:noAutofit/>
        </a:bodyPr>
        <a:lstStyle/>
        <a:p>
          <a:pPr marL="0" lvl="0" indent="0" algn="ctr" defTabSz="1200150">
            <a:lnSpc>
              <a:spcPct val="90000"/>
            </a:lnSpc>
            <a:spcBef>
              <a:spcPct val="0"/>
            </a:spcBef>
            <a:spcAft>
              <a:spcPct val="35000"/>
            </a:spcAft>
            <a:buNone/>
          </a:pPr>
          <a:r>
            <a:rPr lang="en-US" sz="2700" kern="1200"/>
            <a:t>Conclusion</a:t>
          </a:r>
        </a:p>
      </dsp:txBody>
      <dsp:txXfrm>
        <a:off x="1734155" y="3581821"/>
        <a:ext cx="2188071" cy="13128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279F3D-3602-4968-A60B-3DE1B2FC108B}">
      <dsp:nvSpPr>
        <dsp:cNvPr id="0" name=""/>
        <dsp:cNvSpPr/>
      </dsp:nvSpPr>
      <dsp:spPr>
        <a:xfrm>
          <a:off x="2529840" y="760286"/>
          <a:ext cx="2023872" cy="71"/>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ED150BC-27D9-4A36-8650-FB60E72118FB}">
      <dsp:nvSpPr>
        <dsp:cNvPr id="0" name=""/>
        <dsp:cNvSpPr/>
      </dsp:nvSpPr>
      <dsp:spPr>
        <a:xfrm>
          <a:off x="4675144" y="642385"/>
          <a:ext cx="232745" cy="300619"/>
        </a:xfrm>
        <a:prstGeom prst="chevron">
          <a:avLst>
            <a:gd name="adj" fmla="val 90000"/>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78643B-31F8-4328-A52D-0FDCE7B609E8}">
      <dsp:nvSpPr>
        <dsp:cNvPr id="0" name=""/>
        <dsp:cNvSpPr/>
      </dsp:nvSpPr>
      <dsp:spPr>
        <a:xfrm>
          <a:off x="1516534" y="0"/>
          <a:ext cx="1520643" cy="1520643"/>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009" tIns="59009" rIns="59009" bIns="59009" numCol="1" spcCol="1270" anchor="ctr" anchorCtr="0">
          <a:noAutofit/>
        </a:bodyPr>
        <a:lstStyle/>
        <a:p>
          <a:pPr marL="0" lvl="0" indent="0" algn="ctr" defTabSz="2667000">
            <a:lnSpc>
              <a:spcPct val="90000"/>
            </a:lnSpc>
            <a:spcBef>
              <a:spcPct val="0"/>
            </a:spcBef>
            <a:spcAft>
              <a:spcPct val="35000"/>
            </a:spcAft>
            <a:buNone/>
          </a:pPr>
          <a:r>
            <a:rPr lang="en-GB" sz="6000" kern="1200"/>
            <a:t>1</a:t>
          </a:r>
        </a:p>
      </dsp:txBody>
      <dsp:txXfrm>
        <a:off x="1739227" y="222693"/>
        <a:ext cx="1075257" cy="1075257"/>
      </dsp:txXfrm>
    </dsp:sp>
    <dsp:sp modelId="{09EEB311-B16C-47A2-905B-502129B2E368}">
      <dsp:nvSpPr>
        <dsp:cNvPr id="0" name=""/>
        <dsp:cNvSpPr/>
      </dsp:nvSpPr>
      <dsp:spPr>
        <a:xfrm>
          <a:off x="0" y="1684800"/>
          <a:ext cx="4553712" cy="1881360"/>
        </a:xfrm>
        <a:prstGeom prst="upArrowCallout">
          <a:avLst>
            <a:gd name="adj1" fmla="val 50000"/>
            <a:gd name="adj2" fmla="val 20000"/>
            <a:gd name="adj3" fmla="val 20000"/>
            <a:gd name="adj4" fmla="val 100000"/>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9202" tIns="165100" rIns="359202" bIns="165100" numCol="1" spcCol="1270" anchor="t" anchorCtr="0">
          <a:noAutofit/>
        </a:bodyPr>
        <a:lstStyle/>
        <a:p>
          <a:pPr marL="0" lvl="0" indent="0" algn="l" defTabSz="933450" rtl="0">
            <a:lnSpc>
              <a:spcPct val="90000"/>
            </a:lnSpc>
            <a:spcBef>
              <a:spcPct val="0"/>
            </a:spcBef>
            <a:spcAft>
              <a:spcPct val="35000"/>
            </a:spcAft>
            <a:buNone/>
          </a:pPr>
          <a:r>
            <a:rPr lang="en-GB" sz="2100" kern="1200" dirty="0"/>
            <a:t>⦁    Identification of differentially expressed genes</a:t>
          </a:r>
          <a:endParaRPr lang="en-GB" sz="2100" kern="1200" dirty="0">
            <a:latin typeface="Aptos Display" panose="020F0302020204030204"/>
          </a:endParaRPr>
        </a:p>
      </dsp:txBody>
      <dsp:txXfrm>
        <a:off x="0" y="2061072"/>
        <a:ext cx="4553712" cy="1505088"/>
      </dsp:txXfrm>
    </dsp:sp>
    <dsp:sp modelId="{8317E767-1F9C-4FD5-909B-4C3B74FB16CF}">
      <dsp:nvSpPr>
        <dsp:cNvPr id="0" name=""/>
        <dsp:cNvSpPr/>
      </dsp:nvSpPr>
      <dsp:spPr>
        <a:xfrm>
          <a:off x="5059680" y="766977"/>
          <a:ext cx="2276856" cy="65"/>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FCA0B59-8C28-4291-AB3F-4DA249373C8A}">
      <dsp:nvSpPr>
        <dsp:cNvPr id="0" name=""/>
        <dsp:cNvSpPr/>
      </dsp:nvSpPr>
      <dsp:spPr>
        <a:xfrm>
          <a:off x="6576214" y="6688"/>
          <a:ext cx="1520643" cy="1520643"/>
        </a:xfrm>
        <a:prstGeom prst="ellips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009" tIns="59009" rIns="59009" bIns="59009" numCol="1" spcCol="1270" anchor="ctr" anchorCtr="0">
          <a:noAutofit/>
        </a:bodyPr>
        <a:lstStyle/>
        <a:p>
          <a:pPr marL="0" lvl="0" indent="0" algn="ctr" defTabSz="2667000">
            <a:lnSpc>
              <a:spcPct val="90000"/>
            </a:lnSpc>
            <a:spcBef>
              <a:spcPct val="0"/>
            </a:spcBef>
            <a:spcAft>
              <a:spcPct val="35000"/>
            </a:spcAft>
            <a:buNone/>
          </a:pPr>
          <a:r>
            <a:rPr lang="en-US" sz="6000" kern="1200"/>
            <a:t>2</a:t>
          </a:r>
        </a:p>
      </dsp:txBody>
      <dsp:txXfrm>
        <a:off x="6798907" y="229381"/>
        <a:ext cx="1075257" cy="1075257"/>
      </dsp:txXfrm>
    </dsp:sp>
    <dsp:sp modelId="{39C42DBF-B1B1-4D1C-B443-163E9856C57F}">
      <dsp:nvSpPr>
        <dsp:cNvPr id="0" name=""/>
        <dsp:cNvSpPr/>
      </dsp:nvSpPr>
      <dsp:spPr>
        <a:xfrm>
          <a:off x="5059680" y="1684800"/>
          <a:ext cx="4553712" cy="1881360"/>
        </a:xfrm>
        <a:prstGeom prst="upArrowCallout">
          <a:avLst>
            <a:gd name="adj1" fmla="val 50000"/>
            <a:gd name="adj2" fmla="val 20000"/>
            <a:gd name="adj3" fmla="val 20000"/>
            <a:gd name="adj4" fmla="val 100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9202" tIns="165100" rIns="359202" bIns="165100" numCol="1" spcCol="1270" anchor="t" anchorCtr="0">
          <a:noAutofit/>
        </a:bodyPr>
        <a:lstStyle/>
        <a:p>
          <a:pPr marL="0" lvl="0" indent="0" algn="l" defTabSz="933450">
            <a:lnSpc>
              <a:spcPct val="90000"/>
            </a:lnSpc>
            <a:spcBef>
              <a:spcPct val="0"/>
            </a:spcBef>
            <a:spcAft>
              <a:spcPct val="35000"/>
            </a:spcAft>
            <a:buNone/>
          </a:pPr>
          <a:r>
            <a:rPr lang="en-GB" sz="2100" kern="1200" dirty="0"/>
            <a:t>⦁    Identification of related metabolic pathways of  breast cancer </a:t>
          </a:r>
        </a:p>
      </dsp:txBody>
      <dsp:txXfrm>
        <a:off x="5059680" y="2061072"/>
        <a:ext cx="4553712" cy="1505088"/>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510FDF-E88F-4D39-88C8-98B35B9CC55D}" type="datetimeFigureOut">
              <a:t>8/21/2025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0E1B0F-DB8A-4863-A145-9A4C61F31B07}" type="slidenum">
              <a:t>‹#›</a:t>
            </a:fld>
            <a:endParaRPr lang="en-GB"/>
          </a:p>
        </p:txBody>
      </p:sp>
    </p:spTree>
    <p:extLst>
      <p:ext uri="{BB962C8B-B14F-4D97-AF65-F5344CB8AC3E}">
        <p14:creationId xmlns:p14="http://schemas.microsoft.com/office/powerpoint/2010/main" val="4045160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pubmed.ncbi.nlm.nih.gov/?term=Wu+J&amp;cauthor_id=21532620" TargetMode="External"/><Relationship Id="rId13" Type="http://schemas.openxmlformats.org/officeDocument/2006/relationships/hyperlink" Target="https://pubmed.ncbi.nlm.nih.gov/?term=Lau+S&amp;cauthor_id=21532620" TargetMode="External"/><Relationship Id="rId3" Type="http://schemas.openxmlformats.org/officeDocument/2006/relationships/hyperlink" Target="https://pubmed.ncbi.nlm.nih.gov/?term=Yang+L&amp;cauthor_id=21532620" TargetMode="External"/><Relationship Id="rId7" Type="http://schemas.openxmlformats.org/officeDocument/2006/relationships/hyperlink" Target="https://pubmed.ncbi.nlm.nih.gov/?term=Zhang+K&amp;cauthor_id=21532620" TargetMode="External"/><Relationship Id="rId12" Type="http://schemas.openxmlformats.org/officeDocument/2006/relationships/hyperlink" Target="https://pubmed.ncbi.nlm.nih.gov/?term=Kim+CC&amp;cauthor_id=21532620" TargetMode="External"/><Relationship Id="rId2" Type="http://schemas.openxmlformats.org/officeDocument/2006/relationships/slide" Target="../slides/slide17.xml"/><Relationship Id="rId16" Type="http://schemas.openxmlformats.org/officeDocument/2006/relationships/hyperlink" Target="https://doi.org/10.1038/onc.2011.145" TargetMode="External"/><Relationship Id="rId1" Type="http://schemas.openxmlformats.org/officeDocument/2006/relationships/notesMaster" Target="../notesMasters/notesMaster1.xml"/><Relationship Id="rId6" Type="http://schemas.openxmlformats.org/officeDocument/2006/relationships/hyperlink" Target="https://pubmed.ncbi.nlm.nih.gov/?term=Wang+Y&amp;cauthor_id=21532620" TargetMode="External"/><Relationship Id="rId11" Type="http://schemas.openxmlformats.org/officeDocument/2006/relationships/hyperlink" Target="https://pubmed.ncbi.nlm.nih.gov/?term=Chen+L&amp;cauthor_id=21532620" TargetMode="External"/><Relationship Id="rId5" Type="http://schemas.openxmlformats.org/officeDocument/2006/relationships/hyperlink" Target="https://pubmed.ncbi.nlm.nih.gov/?term=Wu+X&amp;cauthor_id=21532620" TargetMode="External"/><Relationship Id="rId15" Type="http://schemas.openxmlformats.org/officeDocument/2006/relationships/hyperlink" Target="https://pubmed.ncbi.nlm.nih.gov/?term=Yen+Y&amp;cauthor_id=21532620" TargetMode="External"/><Relationship Id="rId10" Type="http://schemas.openxmlformats.org/officeDocument/2006/relationships/hyperlink" Target="https://pubmed.ncbi.nlm.nih.gov/?term=Deng+X&amp;cauthor_id=21532620" TargetMode="External"/><Relationship Id="rId4" Type="http://schemas.openxmlformats.org/officeDocument/2006/relationships/hyperlink" Target="https://pubmed.ncbi.nlm.nih.gov/21532620/#full-view-affiliation-1" TargetMode="External"/><Relationship Id="rId9" Type="http://schemas.openxmlformats.org/officeDocument/2006/relationships/hyperlink" Target="https://pubmed.ncbi.nlm.nih.gov/?term=Yuan+YC&amp;cauthor_id=21532620" TargetMode="External"/><Relationship Id="rId14" Type="http://schemas.openxmlformats.org/officeDocument/2006/relationships/hyperlink" Target="https://pubmed.ncbi.nlm.nih.gov/?term=Somlo+G&amp;cauthor_id=21532620"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sciencedirect.com/science/article/pii/S0378874112001729"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sciencedirect.com/science/article/pii/S092375341939996X"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10E1B0F-DB8A-4863-A145-9A4C61F31B07}" type="slidenum">
              <a:t>1</a:t>
            </a:fld>
            <a:endParaRPr lang="en-GB"/>
          </a:p>
        </p:txBody>
      </p:sp>
    </p:spTree>
    <p:extLst>
      <p:ext uri="{BB962C8B-B14F-4D97-AF65-F5344CB8AC3E}">
        <p14:creationId xmlns:p14="http://schemas.microsoft.com/office/powerpoint/2010/main" val="45084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410E1B0F-DB8A-4863-A145-9A4C61F31B07}" type="slidenum">
              <a:rPr lang="en-PK" smtClean="0"/>
              <a:t>2</a:t>
            </a:fld>
            <a:endParaRPr lang="en-PK"/>
          </a:p>
        </p:txBody>
      </p:sp>
    </p:spTree>
    <p:extLst>
      <p:ext uri="{BB962C8B-B14F-4D97-AF65-F5344CB8AC3E}">
        <p14:creationId xmlns:p14="http://schemas.microsoft.com/office/powerpoint/2010/main" val="3268606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33333"/>
                </a:solidFill>
                <a:effectLst/>
                <a:latin typeface="-apple-system"/>
              </a:rPr>
              <a:t>Ginsburg O, Bray F, Coleman MP, Vanderpuye V, </a:t>
            </a:r>
            <a:r>
              <a:rPr lang="en-GB" b="0" i="0" dirty="0" err="1">
                <a:solidFill>
                  <a:srgbClr val="333333"/>
                </a:solidFill>
                <a:effectLst/>
                <a:latin typeface="-apple-system"/>
              </a:rPr>
              <a:t>Eniu</a:t>
            </a:r>
            <a:r>
              <a:rPr lang="en-GB" b="0" i="0" dirty="0">
                <a:solidFill>
                  <a:srgbClr val="333333"/>
                </a:solidFill>
                <a:effectLst/>
                <a:latin typeface="-apple-system"/>
              </a:rPr>
              <a:t> A, Kotha SR, et al. The global burden of women’s cancers: a grand challenge in global health. Lancet. 2017;389(10071):847–60.</a:t>
            </a:r>
          </a:p>
          <a:p>
            <a:r>
              <a:rPr lang="en-GB" b="0" i="0" dirty="0">
                <a:solidFill>
                  <a:srgbClr val="333333"/>
                </a:solidFill>
                <a:effectLst/>
                <a:latin typeface="-apple-system"/>
              </a:rPr>
              <a:t>Allahverdiyev A, Tari G, Bagirova M, </a:t>
            </a:r>
            <a:r>
              <a:rPr lang="en-GB" b="0" i="0" dirty="0" err="1">
                <a:solidFill>
                  <a:srgbClr val="333333"/>
                </a:solidFill>
                <a:effectLst/>
                <a:latin typeface="-apple-system"/>
              </a:rPr>
              <a:t>Abamor</a:t>
            </a:r>
            <a:r>
              <a:rPr lang="en-GB" b="0" i="0" dirty="0">
                <a:solidFill>
                  <a:srgbClr val="333333"/>
                </a:solidFill>
                <a:effectLst/>
                <a:latin typeface="-apple-system"/>
              </a:rPr>
              <a:t> ES. Current approaches in development of immunotherapeutic vaccines for breast Cancer. J Breast Cancer. 2018;21(4):343–53.</a:t>
            </a:r>
          </a:p>
          <a:p>
            <a:r>
              <a:rPr lang="en-GB" b="0" i="0" dirty="0">
                <a:solidFill>
                  <a:srgbClr val="333333"/>
                </a:solidFill>
                <a:effectLst/>
                <a:latin typeface="-apple-system"/>
              </a:rPr>
              <a:t>Muller A, Homey B, Soto H, Ge N, Catron D, Buchanan ME, et al. Involvement of chemokine receptors in breast cancer metastasis. Nature. 2001;410(6824):50–6.</a:t>
            </a:r>
            <a:endParaRPr lang="en-PK" dirty="0"/>
          </a:p>
        </p:txBody>
      </p:sp>
      <p:sp>
        <p:nvSpPr>
          <p:cNvPr id="4" name="Slide Number Placeholder 3"/>
          <p:cNvSpPr>
            <a:spLocks noGrp="1"/>
          </p:cNvSpPr>
          <p:nvPr>
            <p:ph type="sldNum" sz="quarter" idx="5"/>
          </p:nvPr>
        </p:nvSpPr>
        <p:spPr/>
        <p:txBody>
          <a:bodyPr/>
          <a:lstStyle/>
          <a:p>
            <a:fld id="{410E1B0F-DB8A-4863-A145-9A4C61F31B07}" type="slidenum">
              <a:rPr lang="en-PK" smtClean="0"/>
              <a:t>3</a:t>
            </a:fld>
            <a:endParaRPr lang="en-PK"/>
          </a:p>
        </p:txBody>
      </p:sp>
    </p:spTree>
    <p:extLst>
      <p:ext uri="{BB962C8B-B14F-4D97-AF65-F5344CB8AC3E}">
        <p14:creationId xmlns:p14="http://schemas.microsoft.com/office/powerpoint/2010/main" val="2453394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B1B1B"/>
                </a:solidFill>
              </a:rPr>
              <a:t>Hanahan D, Weinberg RA. The hallmarks of cancer. Cell. 2000;100:57–70. </a:t>
            </a:r>
            <a:r>
              <a:rPr lang="en-US" dirty="0" err="1">
                <a:solidFill>
                  <a:srgbClr val="1B1B1B"/>
                </a:solidFill>
              </a:rPr>
              <a:t>doi</a:t>
            </a:r>
            <a:r>
              <a:rPr lang="en-US" dirty="0">
                <a:solidFill>
                  <a:srgbClr val="1B1B1B"/>
                </a:solidFill>
              </a:rPr>
              <a:t>: 10.1016/s0092-8674(00)81683-9</a:t>
            </a:r>
          </a:p>
          <a:p>
            <a:r>
              <a:rPr lang="en-US" dirty="0">
                <a:solidFill>
                  <a:srgbClr val="1B1B1B"/>
                </a:solidFill>
              </a:rPr>
              <a:t>Pardee AB. G1 events and regulation of cell proliferation. Science. 1989;246:603–608. </a:t>
            </a:r>
            <a:r>
              <a:rPr lang="en-US" err="1">
                <a:solidFill>
                  <a:srgbClr val="1B1B1B"/>
                </a:solidFill>
              </a:rPr>
              <a:t>doi</a:t>
            </a:r>
            <a:r>
              <a:rPr lang="en-US" dirty="0">
                <a:solidFill>
                  <a:srgbClr val="1B1B1B"/>
                </a:solidFill>
              </a:rPr>
              <a:t>: 10.1126/science.2683075.</a:t>
            </a:r>
          </a:p>
          <a:p>
            <a:r>
              <a:rPr lang="en-US" dirty="0">
                <a:solidFill>
                  <a:srgbClr val="333333"/>
                </a:solidFill>
              </a:rPr>
              <a:t>Hellman S: Dogma and inquisition in medicine. Breast cancer as a case study. Cancer 1993; 71: 2430-2433.</a:t>
            </a:r>
          </a:p>
          <a:p>
            <a:r>
              <a:rPr lang="en-US" err="1">
                <a:solidFill>
                  <a:srgbClr val="333333"/>
                </a:solidFill>
              </a:rPr>
              <a:t>Senosain</a:t>
            </a:r>
            <a:r>
              <a:rPr lang="en-US" dirty="0">
                <a:solidFill>
                  <a:srgbClr val="333333"/>
                </a:solidFill>
              </a:rPr>
              <a:t> MF, </a:t>
            </a:r>
            <a:r>
              <a:rPr lang="en-US" err="1">
                <a:solidFill>
                  <a:srgbClr val="333333"/>
                </a:solidFill>
              </a:rPr>
              <a:t>Massion</a:t>
            </a:r>
            <a:r>
              <a:rPr lang="en-US">
                <a:solidFill>
                  <a:srgbClr val="333333"/>
                </a:solidFill>
              </a:rPr>
              <a:t> PP. Intratumor Heterogeneity in Early Lung Adenocarcinoma. Front Oncol 2020;10:349</a:t>
            </a:r>
          </a:p>
          <a:p>
            <a:r>
              <a:rPr lang="en-US">
                <a:solidFill>
                  <a:srgbClr val="1B1B1B"/>
                </a:solidFill>
              </a:rPr>
              <a:t>DeSantis CE, Ma J, Goding Sauer A, Newman LA, Jemal A. Breast cancer statistics, 2017, racial disparity in mortality by state. CA Cancer J Clin 2017;67(6):439–48. </a:t>
            </a:r>
          </a:p>
          <a:p>
            <a:r>
              <a:rPr lang="en-US">
                <a:solidFill>
                  <a:srgbClr val="1F1F1F"/>
                </a:solidFill>
              </a:rPr>
              <a:t>. Xu, Y. Liu, T. Zhang, </a:t>
            </a:r>
            <a:r>
              <a:rPr lang="en-US" i="1">
                <a:solidFill>
                  <a:srgbClr val="1F1F1F"/>
                </a:solidFill>
              </a:rPr>
              <a:t>et al.</a:t>
            </a:r>
            <a:endParaRPr lang="en-US"/>
          </a:p>
          <a:p>
            <a:r>
              <a:rPr lang="en-US" dirty="0">
                <a:solidFill>
                  <a:srgbClr val="1F1F1F"/>
                </a:solidFill>
              </a:rPr>
              <a:t>The global, regional, and national burden and trends of breast cancer from 1990 to 2019: results from the Global Burden of Disease Study 2019</a:t>
            </a:r>
            <a:endParaRPr lang="en-US" dirty="0"/>
          </a:p>
          <a:p>
            <a:r>
              <a:rPr lang="en-US" dirty="0">
                <a:solidFill>
                  <a:srgbClr val="707070"/>
                </a:solidFill>
              </a:rPr>
              <a:t>Front Oncol, 11 (2021), Article 689562</a:t>
            </a:r>
            <a:endParaRPr lang="en-US" dirty="0"/>
          </a:p>
          <a:p>
            <a:r>
              <a:rPr lang="en-US">
                <a:solidFill>
                  <a:srgbClr val="1B1B1B"/>
                </a:solidFill>
              </a:rPr>
              <a:t>Harbeck N, Gnant M. Breast cancer. Lancet. 2017;389:1134–1150. </a:t>
            </a:r>
            <a:r>
              <a:rPr lang="en-US" err="1">
                <a:solidFill>
                  <a:srgbClr val="1B1B1B"/>
                </a:solidFill>
              </a:rPr>
              <a:t>doi</a:t>
            </a:r>
            <a:r>
              <a:rPr lang="en-US">
                <a:solidFill>
                  <a:srgbClr val="1B1B1B"/>
                </a:solidFill>
              </a:rPr>
              <a:t>: 10.1016/S0140-6736(16)31891-8</a:t>
            </a:r>
          </a:p>
          <a:p>
            <a:r>
              <a:rPr lang="en-US" dirty="0">
                <a:solidFill>
                  <a:srgbClr val="1B1B1B"/>
                </a:solidFill>
              </a:rPr>
              <a:t>Florea A, </a:t>
            </a:r>
            <a:r>
              <a:rPr lang="en-US" dirty="0" err="1">
                <a:solidFill>
                  <a:srgbClr val="1B1B1B"/>
                </a:solidFill>
              </a:rPr>
              <a:t>Sangaré</a:t>
            </a:r>
            <a:r>
              <a:rPr lang="en-US" dirty="0">
                <a:solidFill>
                  <a:srgbClr val="1B1B1B"/>
                </a:solidFill>
              </a:rPr>
              <a:t> L, Lowe K. A Multinational assessment of gastric, esophageal, and colorectal cancer burden: a report of disease incidence, prevalence, and fatality. J </a:t>
            </a:r>
            <a:r>
              <a:rPr lang="en-US" dirty="0" err="1">
                <a:solidFill>
                  <a:srgbClr val="1B1B1B"/>
                </a:solidFill>
              </a:rPr>
              <a:t>Gastrointest</a:t>
            </a:r>
            <a:r>
              <a:rPr lang="en-US" dirty="0">
                <a:solidFill>
                  <a:srgbClr val="1B1B1B"/>
                </a:solidFill>
              </a:rPr>
              <a:t> Cancer. 2020;51:965–71. </a:t>
            </a:r>
            <a:r>
              <a:rPr lang="en-US" dirty="0" err="1">
                <a:solidFill>
                  <a:srgbClr val="1B1B1B"/>
                </a:solidFill>
              </a:rPr>
              <a:t>doi</a:t>
            </a:r>
            <a:r>
              <a:rPr lang="en-US" dirty="0">
                <a:solidFill>
                  <a:srgbClr val="1B1B1B"/>
                </a:solidFill>
              </a:rPr>
              <a:t>: 10.1007/s12029-019-00328-4</a:t>
            </a:r>
            <a:endParaRPr lang="en-US" dirty="0">
              <a:solidFill>
                <a:srgbClr val="1B1B1B"/>
              </a:solidFill>
              <a:ea typeface="Calibri"/>
              <a:cs typeface="Calibri"/>
            </a:endParaRPr>
          </a:p>
          <a:p>
            <a:r>
              <a:rPr lang="en-US" dirty="0">
                <a:solidFill>
                  <a:srgbClr val="0071BC"/>
                </a:solidFill>
                <a:hlinkClick r:id="rId3"/>
              </a:rPr>
              <a:t>L Yang</a:t>
            </a:r>
            <a:r>
              <a:rPr lang="en-US" baseline="30000" dirty="0">
                <a:solidFill>
                  <a:srgbClr val="5B616B"/>
                </a:solidFill>
              </a:rPr>
              <a:t> </a:t>
            </a:r>
            <a:r>
              <a:rPr lang="en-US" baseline="30000" dirty="0">
                <a:solidFill>
                  <a:srgbClr val="323A45"/>
                </a:solidFill>
                <a:hlinkClick r:id="rId4"/>
              </a:rPr>
              <a:t>1</a:t>
            </a:r>
            <a:r>
              <a:rPr lang="en-US">
                <a:solidFill>
                  <a:srgbClr val="5B616B"/>
                </a:solidFill>
              </a:rPr>
              <a:t>, </a:t>
            </a:r>
            <a:r>
              <a:rPr lang="en-US" dirty="0">
                <a:solidFill>
                  <a:srgbClr val="0071BC"/>
                </a:solidFill>
                <a:hlinkClick r:id="rId5"/>
              </a:rPr>
              <a:t>X Wu</a:t>
            </a:r>
            <a:r>
              <a:rPr lang="en-US">
                <a:solidFill>
                  <a:srgbClr val="5B616B"/>
                </a:solidFill>
              </a:rPr>
              <a:t>, </a:t>
            </a:r>
            <a:r>
              <a:rPr lang="en-US" dirty="0">
                <a:solidFill>
                  <a:srgbClr val="0071BC"/>
                </a:solidFill>
                <a:hlinkClick r:id="rId6"/>
              </a:rPr>
              <a:t>Y Wang</a:t>
            </a:r>
            <a:r>
              <a:rPr lang="en-US">
                <a:solidFill>
                  <a:srgbClr val="5B616B"/>
                </a:solidFill>
              </a:rPr>
              <a:t>, </a:t>
            </a:r>
            <a:r>
              <a:rPr lang="en-US" dirty="0">
                <a:solidFill>
                  <a:srgbClr val="0071BC"/>
                </a:solidFill>
                <a:hlinkClick r:id="rId7"/>
              </a:rPr>
              <a:t>K Zhang</a:t>
            </a:r>
            <a:r>
              <a:rPr lang="en-US">
                <a:solidFill>
                  <a:srgbClr val="5B616B"/>
                </a:solidFill>
              </a:rPr>
              <a:t>, </a:t>
            </a:r>
            <a:r>
              <a:rPr lang="en-US" dirty="0">
                <a:solidFill>
                  <a:srgbClr val="0071BC"/>
                </a:solidFill>
                <a:hlinkClick r:id="rId8"/>
              </a:rPr>
              <a:t>J Wu</a:t>
            </a:r>
            <a:r>
              <a:rPr lang="en-US">
                <a:solidFill>
                  <a:srgbClr val="5B616B"/>
                </a:solidFill>
              </a:rPr>
              <a:t>, </a:t>
            </a:r>
            <a:r>
              <a:rPr lang="en-US" dirty="0">
                <a:solidFill>
                  <a:srgbClr val="0071BC"/>
                </a:solidFill>
                <a:hlinkClick r:id="rId9"/>
              </a:rPr>
              <a:t>Y-C Yuan</a:t>
            </a:r>
            <a:r>
              <a:rPr lang="en-US">
                <a:solidFill>
                  <a:srgbClr val="5B616B"/>
                </a:solidFill>
              </a:rPr>
              <a:t>, </a:t>
            </a:r>
            <a:r>
              <a:rPr lang="en-US" dirty="0">
                <a:solidFill>
                  <a:srgbClr val="0071BC"/>
                </a:solidFill>
                <a:hlinkClick r:id="rId10"/>
              </a:rPr>
              <a:t>X Deng</a:t>
            </a:r>
            <a:r>
              <a:rPr lang="en-US">
                <a:solidFill>
                  <a:srgbClr val="5B616B"/>
                </a:solidFill>
              </a:rPr>
              <a:t>, </a:t>
            </a:r>
            <a:r>
              <a:rPr lang="en-US" dirty="0">
                <a:solidFill>
                  <a:srgbClr val="0071BC"/>
                </a:solidFill>
                <a:hlinkClick r:id="rId11"/>
              </a:rPr>
              <a:t>L Chen</a:t>
            </a:r>
            <a:r>
              <a:rPr lang="en-US">
                <a:solidFill>
                  <a:srgbClr val="5B616B"/>
                </a:solidFill>
              </a:rPr>
              <a:t>, </a:t>
            </a:r>
            <a:r>
              <a:rPr lang="en-US" dirty="0">
                <a:solidFill>
                  <a:srgbClr val="0071BC"/>
                </a:solidFill>
                <a:hlinkClick r:id="rId12"/>
              </a:rPr>
              <a:t>C C H Kim</a:t>
            </a:r>
            <a:r>
              <a:rPr lang="en-US">
                <a:solidFill>
                  <a:srgbClr val="5B616B"/>
                </a:solidFill>
              </a:rPr>
              <a:t>, </a:t>
            </a:r>
            <a:r>
              <a:rPr lang="en-US" dirty="0">
                <a:solidFill>
                  <a:srgbClr val="0071BC"/>
                </a:solidFill>
                <a:hlinkClick r:id="rId13"/>
              </a:rPr>
              <a:t>S Lau</a:t>
            </a:r>
            <a:r>
              <a:rPr lang="en-US">
                <a:solidFill>
                  <a:srgbClr val="5B616B"/>
                </a:solidFill>
              </a:rPr>
              <a:t>, </a:t>
            </a:r>
            <a:r>
              <a:rPr lang="en-US" dirty="0">
                <a:solidFill>
                  <a:srgbClr val="0071BC"/>
                </a:solidFill>
                <a:hlinkClick r:id="rId14"/>
              </a:rPr>
              <a:t>G Somlo</a:t>
            </a:r>
            <a:r>
              <a:rPr lang="en-US">
                <a:solidFill>
                  <a:srgbClr val="5B616B"/>
                </a:solidFill>
              </a:rPr>
              <a:t>, </a:t>
            </a:r>
            <a:r>
              <a:rPr lang="en-US" dirty="0">
                <a:solidFill>
                  <a:srgbClr val="0071BC"/>
                </a:solidFill>
                <a:hlinkClick r:id="rId15"/>
              </a:rPr>
              <a:t>Y Yen</a:t>
            </a:r>
            <a:endParaRPr lang="en-US"/>
          </a:p>
          <a:p>
            <a:r>
              <a:rPr lang="en-US">
                <a:solidFill>
                  <a:srgbClr val="212121"/>
                </a:solidFill>
              </a:rPr>
              <a:t>Affiliations </a:t>
            </a:r>
            <a:r>
              <a:rPr lang="en-US">
                <a:solidFill>
                  <a:srgbClr val="323A45"/>
                </a:solidFill>
              </a:rPr>
              <a:t>Expand</a:t>
            </a:r>
            <a:endParaRPr lang="en-US"/>
          </a:p>
          <a:p>
            <a:r>
              <a:rPr lang="en-US" dirty="0">
                <a:solidFill>
                  <a:srgbClr val="212121"/>
                </a:solidFill>
              </a:rPr>
              <a:t>PMID: 21532620</a:t>
            </a:r>
            <a:endParaRPr lang="en-US" dirty="0"/>
          </a:p>
          <a:p>
            <a:r>
              <a:rPr lang="en-US" dirty="0">
                <a:solidFill>
                  <a:srgbClr val="212121"/>
                </a:solidFill>
              </a:rPr>
              <a:t> DOI: </a:t>
            </a:r>
            <a:r>
              <a:rPr lang="en-US" u="sng" dirty="0">
                <a:solidFill>
                  <a:srgbClr val="205493"/>
                </a:solidFill>
                <a:hlinkClick r:id="rId16"/>
              </a:rPr>
              <a:t>10.1038/onc.2011.145</a:t>
            </a:r>
            <a:endParaRPr lang="en-US"/>
          </a:p>
          <a:p>
            <a:endParaRPr lang="en-US" dirty="0">
              <a:solidFill>
                <a:srgbClr val="1B1B1B"/>
              </a:solidFill>
              <a:ea typeface="Calibri"/>
              <a:cs typeface="Calibri"/>
            </a:endParaRPr>
          </a:p>
        </p:txBody>
      </p:sp>
      <p:sp>
        <p:nvSpPr>
          <p:cNvPr id="4" name="Slide Number Placeholder 3"/>
          <p:cNvSpPr>
            <a:spLocks noGrp="1"/>
          </p:cNvSpPr>
          <p:nvPr>
            <p:ph type="sldNum" sz="quarter" idx="5"/>
          </p:nvPr>
        </p:nvSpPr>
        <p:spPr/>
        <p:txBody>
          <a:bodyPr/>
          <a:lstStyle/>
          <a:p>
            <a:fld id="{410E1B0F-DB8A-4863-A145-9A4C61F31B07}" type="slidenum">
              <a:rPr lang="en-GB"/>
              <a:t>17</a:t>
            </a:fld>
            <a:endParaRPr lang="en-GB"/>
          </a:p>
        </p:txBody>
      </p:sp>
    </p:spTree>
    <p:extLst>
      <p:ext uri="{BB962C8B-B14F-4D97-AF65-F5344CB8AC3E}">
        <p14:creationId xmlns:p14="http://schemas.microsoft.com/office/powerpoint/2010/main" val="2243279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B1B1B"/>
                </a:solidFill>
              </a:rPr>
              <a:t>DeSantis CE, Fedewa SA, Goding SA, et al. Breast cancer statistics, 2015: Convergence of incidence rates between black and white women. Cancer J Clin. 2016;66(1):31–42. </a:t>
            </a:r>
            <a:r>
              <a:rPr lang="en-US" dirty="0" err="1">
                <a:solidFill>
                  <a:srgbClr val="1B1B1B"/>
                </a:solidFill>
              </a:rPr>
              <a:t>doi</a:t>
            </a:r>
            <a:r>
              <a:rPr lang="en-US" dirty="0">
                <a:solidFill>
                  <a:srgbClr val="1B1B1B"/>
                </a:solidFill>
              </a:rPr>
              <a:t>: 10.3322/caac.21320.</a:t>
            </a:r>
          </a:p>
          <a:p>
            <a:r>
              <a:rPr lang="en-US" dirty="0">
                <a:solidFill>
                  <a:srgbClr val="1B1B1B"/>
                </a:solidFill>
              </a:rPr>
              <a:t>Ruan W, Kleinberg DL. Insulin-like growth factor I is essential for terminal end bud formation and ductal morphogenesis during mammary development. Endocrinology. 1999;140:5075–81. </a:t>
            </a:r>
            <a:r>
              <a:rPr lang="en-US" dirty="0" err="1">
                <a:solidFill>
                  <a:srgbClr val="1B1B1B"/>
                </a:solidFill>
              </a:rPr>
              <a:t>doi</a:t>
            </a:r>
            <a:r>
              <a:rPr lang="en-US" dirty="0">
                <a:solidFill>
                  <a:srgbClr val="1B1B1B"/>
                </a:solidFill>
              </a:rPr>
              <a:t>: 10.1210/endo.140.11.7095</a:t>
            </a:r>
            <a:endParaRPr lang="en-US" dirty="0">
              <a:solidFill>
                <a:srgbClr val="1B1B1B"/>
              </a:solidFill>
              <a:ea typeface="Calibri"/>
              <a:cs typeface="Calibri"/>
            </a:endParaRPr>
          </a:p>
          <a:p>
            <a:r>
              <a:rPr lang="en-US" dirty="0">
                <a:solidFill>
                  <a:srgbClr val="1B1B1B"/>
                </a:solidFill>
              </a:rPr>
              <a:t>Darnell JE., Jr Transcription factors as targets for cancer therapy. Nat. Rev. Cancer. 2002;2:740–749. </a:t>
            </a:r>
            <a:r>
              <a:rPr lang="en-US" dirty="0" err="1">
                <a:solidFill>
                  <a:srgbClr val="1B1B1B"/>
                </a:solidFill>
              </a:rPr>
              <a:t>doi</a:t>
            </a:r>
            <a:r>
              <a:rPr lang="en-US" dirty="0">
                <a:solidFill>
                  <a:srgbClr val="1B1B1B"/>
                </a:solidFill>
              </a:rPr>
              <a:t>: 10.1038/nrc906</a:t>
            </a:r>
            <a:endParaRPr lang="en-US" dirty="0">
              <a:solidFill>
                <a:srgbClr val="1B1B1B"/>
              </a:solidFill>
              <a:ea typeface="Calibri"/>
              <a:cs typeface="Calibri"/>
            </a:endParaRPr>
          </a:p>
          <a:p>
            <a:r>
              <a:rPr lang="en-US" dirty="0">
                <a:solidFill>
                  <a:srgbClr val="1B1B1B"/>
                </a:solidFill>
              </a:rPr>
              <a:t>Society AC. Breast Cancer Facts &amp; Figures 2017–2018, 2017.</a:t>
            </a:r>
            <a:endParaRPr lang="en-US" dirty="0">
              <a:solidFill>
                <a:srgbClr val="1B1B1B"/>
              </a:solidFill>
              <a:ea typeface="Calibri"/>
              <a:cs typeface="Calibri"/>
            </a:endParaRPr>
          </a:p>
          <a:p>
            <a:r>
              <a:rPr lang="en-US" dirty="0">
                <a:solidFill>
                  <a:srgbClr val="000000"/>
                </a:solidFill>
              </a:rPr>
              <a:t>Stein RA, </a:t>
            </a:r>
            <a:r>
              <a:rPr lang="en-US" err="1">
                <a:solidFill>
                  <a:srgbClr val="000000"/>
                </a:solidFill>
              </a:rPr>
              <a:t>Staros</a:t>
            </a:r>
            <a:r>
              <a:rPr lang="en-US" dirty="0">
                <a:solidFill>
                  <a:srgbClr val="000000"/>
                </a:solidFill>
              </a:rPr>
              <a:t> JV. Evolutionary analysis of the </a:t>
            </a:r>
            <a:r>
              <a:rPr lang="en-US" err="1">
                <a:solidFill>
                  <a:srgbClr val="000000"/>
                </a:solidFill>
              </a:rPr>
              <a:t>ErbB</a:t>
            </a:r>
            <a:r>
              <a:rPr lang="en-US" dirty="0">
                <a:solidFill>
                  <a:srgbClr val="000000"/>
                </a:solidFill>
              </a:rPr>
              <a:t> receptor and ligand families. J Mol Evol. 2000;50(5):397–412.</a:t>
            </a:r>
          </a:p>
          <a:p>
            <a:r>
              <a:rPr lang="en-US" dirty="0">
                <a:solidFill>
                  <a:srgbClr val="1F1F1F"/>
                </a:solidFill>
              </a:rPr>
              <a:t>S. Sundarraj</a:t>
            </a:r>
            <a:r>
              <a:rPr lang="en-US" i="1" dirty="0">
                <a:solidFill>
                  <a:srgbClr val="1F1F1F"/>
                </a:solidFill>
              </a:rPr>
              <a:t> et al.</a:t>
            </a:r>
            <a:endParaRPr lang="en-US" dirty="0"/>
          </a:p>
          <a:p>
            <a:r>
              <a:rPr lang="en-US" dirty="0">
                <a:solidFill>
                  <a:srgbClr val="0272B1"/>
                </a:solidFill>
                <a:hlinkClick r:id="rId3"/>
              </a:rPr>
              <a:t>γ-Sitosterol from </a:t>
            </a:r>
            <a:r>
              <a:rPr lang="en-US" i="1" dirty="0">
                <a:solidFill>
                  <a:srgbClr val="0272B1"/>
                </a:solidFill>
                <a:hlinkClick r:id="rId3"/>
              </a:rPr>
              <a:t>Acacia nilotica</a:t>
            </a:r>
            <a:r>
              <a:rPr lang="en-US" dirty="0">
                <a:solidFill>
                  <a:srgbClr val="0272B1"/>
                </a:solidFill>
                <a:hlinkClick r:id="rId3"/>
              </a:rPr>
              <a:t> L. induces G2/M cell cycle arrest and apoptosis through c-Myc suppression in MCF-7 and A549 cells</a:t>
            </a:r>
            <a:endParaRPr lang="en-US"/>
          </a:p>
          <a:p>
            <a:r>
              <a:rPr lang="en-US" dirty="0">
                <a:solidFill>
                  <a:srgbClr val="707070"/>
                </a:solidFill>
              </a:rPr>
              <a:t>J </a:t>
            </a:r>
            <a:r>
              <a:rPr lang="en-US" dirty="0" err="1">
                <a:solidFill>
                  <a:srgbClr val="707070"/>
                </a:solidFill>
              </a:rPr>
              <a:t>Ethnopharmacol</a:t>
            </a:r>
            <a:endParaRPr lang="en-US" dirty="0" err="1"/>
          </a:p>
          <a:p>
            <a:r>
              <a:rPr lang="en-US" dirty="0">
                <a:solidFill>
                  <a:srgbClr val="707070"/>
                </a:solidFill>
              </a:rPr>
              <a:t>(2012)</a:t>
            </a:r>
            <a:endParaRPr lang="en-US" dirty="0"/>
          </a:p>
          <a:p>
            <a:r>
              <a:rPr lang="en-US" dirty="0">
                <a:solidFill>
                  <a:srgbClr val="1B1B1B"/>
                </a:solidFill>
              </a:rPr>
              <a:t>DeSantis CE, Ma J, Gaudet MM. et al. Breast cancer statistics, 2019. CA Cancer J Clin. 2019;69:438–51. </a:t>
            </a:r>
            <a:r>
              <a:rPr lang="en-US" dirty="0" err="1">
                <a:solidFill>
                  <a:srgbClr val="1B1B1B"/>
                </a:solidFill>
              </a:rPr>
              <a:t>doi</a:t>
            </a:r>
            <a:r>
              <a:rPr lang="en-US" dirty="0">
                <a:solidFill>
                  <a:srgbClr val="1B1B1B"/>
                </a:solidFill>
              </a:rPr>
              <a:t>: 10.3322/caac.21583.</a:t>
            </a:r>
            <a:endParaRPr lang="en-US" dirty="0">
              <a:solidFill>
                <a:srgbClr val="1B1B1B"/>
              </a:solidFill>
              <a:ea typeface="Calibri"/>
              <a:cs typeface="Calibri"/>
            </a:endParaRPr>
          </a:p>
          <a:p>
            <a:r>
              <a:rPr lang="en-US" dirty="0">
                <a:solidFill>
                  <a:srgbClr val="1B1B1B"/>
                </a:solidFill>
              </a:rPr>
              <a:t> </a:t>
            </a:r>
            <a:r>
              <a:rPr lang="en-US" err="1">
                <a:solidFill>
                  <a:srgbClr val="1B1B1B"/>
                </a:solidFill>
              </a:rPr>
              <a:t>Schenkelaars</a:t>
            </a:r>
            <a:r>
              <a:rPr lang="en-US">
                <a:solidFill>
                  <a:srgbClr val="1B1B1B"/>
                </a:solidFill>
              </a:rPr>
              <a:t> Q, Fierro-</a:t>
            </a:r>
            <a:r>
              <a:rPr lang="en-US" err="1">
                <a:solidFill>
                  <a:srgbClr val="1B1B1B"/>
                </a:solidFill>
              </a:rPr>
              <a:t>Constain</a:t>
            </a:r>
            <a:r>
              <a:rPr lang="en-US">
                <a:solidFill>
                  <a:srgbClr val="1B1B1B"/>
                </a:solidFill>
              </a:rPr>
              <a:t> L, Renard E, Hill AL, </a:t>
            </a:r>
            <a:r>
              <a:rPr lang="en-US" err="1">
                <a:solidFill>
                  <a:srgbClr val="1B1B1B"/>
                </a:solidFill>
              </a:rPr>
              <a:t>Borchiellini</a:t>
            </a:r>
            <a:r>
              <a:rPr lang="en-US">
                <a:solidFill>
                  <a:srgbClr val="1B1B1B"/>
                </a:solidFill>
              </a:rPr>
              <a:t> C. Insights into Frizzled evolution and new perspectives. Evol Dev. 2015;17(2):160–9</a:t>
            </a:r>
            <a:endParaRPr lang="en-US"/>
          </a:p>
          <a:p>
            <a:endParaRPr lang="en-US" dirty="0">
              <a:solidFill>
                <a:srgbClr val="1B1B1B"/>
              </a:solidFill>
              <a:ea typeface="Calibri"/>
              <a:cs typeface="Calibri"/>
            </a:endParaRPr>
          </a:p>
          <a:p>
            <a:r>
              <a:rPr lang="en-US" dirty="0">
                <a:solidFill>
                  <a:srgbClr val="1B1B1B"/>
                </a:solidFill>
              </a:rPr>
              <a:t>Gupta G. P., </a:t>
            </a:r>
            <a:r>
              <a:rPr lang="en-US" dirty="0" err="1">
                <a:solidFill>
                  <a:srgbClr val="1B1B1B"/>
                </a:solidFill>
              </a:rPr>
              <a:t>Massagué</a:t>
            </a:r>
            <a:r>
              <a:rPr lang="en-US" dirty="0">
                <a:solidFill>
                  <a:srgbClr val="1B1B1B"/>
                </a:solidFill>
              </a:rPr>
              <a:t> J. (2006) Cell 127, 679–695</a:t>
            </a:r>
            <a:endParaRPr lang="en-US" dirty="0"/>
          </a:p>
        </p:txBody>
      </p:sp>
      <p:sp>
        <p:nvSpPr>
          <p:cNvPr id="4" name="Slide Number Placeholder 3"/>
          <p:cNvSpPr>
            <a:spLocks noGrp="1"/>
          </p:cNvSpPr>
          <p:nvPr>
            <p:ph type="sldNum" sz="quarter" idx="5"/>
          </p:nvPr>
        </p:nvSpPr>
        <p:spPr/>
        <p:txBody>
          <a:bodyPr/>
          <a:lstStyle/>
          <a:p>
            <a:fld id="{410E1B0F-DB8A-4863-A145-9A4C61F31B07}" type="slidenum">
              <a:rPr lang="en-GB"/>
              <a:t>18</a:t>
            </a:fld>
            <a:endParaRPr lang="en-GB"/>
          </a:p>
        </p:txBody>
      </p:sp>
    </p:spTree>
    <p:extLst>
      <p:ext uri="{BB962C8B-B14F-4D97-AF65-F5344CB8AC3E}">
        <p14:creationId xmlns:p14="http://schemas.microsoft.com/office/powerpoint/2010/main" val="4077467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B1B1B"/>
                </a:solidFill>
              </a:rPr>
              <a:t>Abreu de Oliveira WA, El </a:t>
            </a:r>
            <a:r>
              <a:rPr lang="en-US" err="1">
                <a:solidFill>
                  <a:srgbClr val="1B1B1B"/>
                </a:solidFill>
              </a:rPr>
              <a:t>Laithy</a:t>
            </a:r>
            <a:r>
              <a:rPr lang="en-US" dirty="0">
                <a:solidFill>
                  <a:srgbClr val="1B1B1B"/>
                </a:solidFill>
              </a:rPr>
              <a:t> Y, Bruna A, </a:t>
            </a:r>
            <a:r>
              <a:rPr lang="en-US" err="1">
                <a:solidFill>
                  <a:srgbClr val="1B1B1B"/>
                </a:solidFill>
              </a:rPr>
              <a:t>Annibali</a:t>
            </a:r>
            <a:r>
              <a:rPr lang="en-US" dirty="0">
                <a:solidFill>
                  <a:srgbClr val="1B1B1B"/>
                </a:solidFill>
              </a:rPr>
              <a:t> D, Lluis F. </a:t>
            </a:r>
            <a:r>
              <a:rPr lang="en-US" err="1">
                <a:solidFill>
                  <a:srgbClr val="1B1B1B"/>
                </a:solidFill>
              </a:rPr>
              <a:t>Wnt</a:t>
            </a:r>
            <a:r>
              <a:rPr lang="en-US" dirty="0">
                <a:solidFill>
                  <a:srgbClr val="1B1B1B"/>
                </a:solidFill>
              </a:rPr>
              <a:t> signaling in the breast: From development to disease. Front Cell Dev Biol. 2022;10:884467. </a:t>
            </a:r>
            <a:r>
              <a:rPr lang="en-US" err="1">
                <a:solidFill>
                  <a:srgbClr val="1B1B1B"/>
                </a:solidFill>
              </a:rPr>
              <a:t>doi</a:t>
            </a:r>
            <a:r>
              <a:rPr lang="en-US">
                <a:solidFill>
                  <a:srgbClr val="1B1B1B"/>
                </a:solidFill>
              </a:rPr>
              <a:t>: 10.3389/fcell.2022.884467</a:t>
            </a:r>
          </a:p>
          <a:p>
            <a:r>
              <a:rPr lang="en-US">
                <a:solidFill>
                  <a:srgbClr val="1B1B1B"/>
                </a:solidFill>
              </a:rPr>
              <a:t>Li D.M., Sun H. TEP1, Encoded by a Candidate Tumor Suppressor Locus, is a Novel Protein Tyrosine Phosphatase Regulated by Transforming Growth Factor Beta. Cancer Res. 1997;57:2124–2129. </a:t>
            </a:r>
          </a:p>
          <a:p>
            <a:r>
              <a:rPr lang="en-US">
                <a:solidFill>
                  <a:srgbClr val="212121"/>
                </a:solidFill>
              </a:rPr>
              <a:t>Kalluri R, </a:t>
            </a:r>
            <a:r>
              <a:rPr lang="en-US" err="1">
                <a:solidFill>
                  <a:srgbClr val="212121"/>
                </a:solidFill>
              </a:rPr>
              <a:t>Zeisberg</a:t>
            </a:r>
            <a:r>
              <a:rPr lang="en-US">
                <a:solidFill>
                  <a:srgbClr val="212121"/>
                </a:solidFill>
              </a:rPr>
              <a:t> M. Fibroblasts in cancer. Nat Rev Cancer. 2006;6(5):392-401.</a:t>
            </a:r>
            <a:endParaRPr lang="en-US"/>
          </a:p>
          <a:p>
            <a:r>
              <a:rPr lang="en-US">
                <a:solidFill>
                  <a:srgbClr val="1F1F1F"/>
                </a:solidFill>
              </a:rPr>
              <a:t>M.D. Green</a:t>
            </a:r>
            <a:endParaRPr lang="en-US"/>
          </a:p>
          <a:p>
            <a:r>
              <a:rPr lang="en-US" dirty="0">
                <a:solidFill>
                  <a:srgbClr val="0272B1"/>
                </a:solidFill>
                <a:hlinkClick r:id="rId3"/>
              </a:rPr>
              <a:t>Gefitinib treatment in hormone-resistant and hormone receptor-negative advanced breast cancer</a:t>
            </a:r>
            <a:endParaRPr lang="en-US"/>
          </a:p>
          <a:p>
            <a:r>
              <a:rPr lang="en-US" dirty="0">
                <a:solidFill>
                  <a:srgbClr val="707070"/>
                </a:solidFill>
              </a:rPr>
              <a:t>Ann. Oncol.</a:t>
            </a:r>
            <a:endParaRPr lang="en-US" dirty="0"/>
          </a:p>
          <a:p>
            <a:r>
              <a:rPr lang="en-US" dirty="0">
                <a:solidFill>
                  <a:srgbClr val="707070"/>
                </a:solidFill>
              </a:rPr>
              <a:t>(2009)</a:t>
            </a:r>
            <a:endParaRPr lang="en-US" dirty="0"/>
          </a:p>
          <a:p>
            <a:r>
              <a:rPr lang="en-US" dirty="0">
                <a:solidFill>
                  <a:srgbClr val="1B1B1B"/>
                </a:solidFill>
              </a:rPr>
              <a:t>Ruan W, Kleinberg DL. Insulin-like growth factor I is essential for terminal end bud formation and ductal morphogenesis during mammary development. Endocrinology. 1999;140:5075–81. </a:t>
            </a:r>
            <a:r>
              <a:rPr lang="en-US" err="1">
                <a:solidFill>
                  <a:srgbClr val="1B1B1B"/>
                </a:solidFill>
              </a:rPr>
              <a:t>doi</a:t>
            </a:r>
            <a:r>
              <a:rPr lang="en-US">
                <a:solidFill>
                  <a:srgbClr val="1B1B1B"/>
                </a:solidFill>
              </a:rPr>
              <a:t>: 10.1210/endo.140.11.7095.</a:t>
            </a:r>
          </a:p>
          <a:p>
            <a:r>
              <a:rPr lang="en-US" err="1">
                <a:solidFill>
                  <a:srgbClr val="1B1B1B"/>
                </a:solidFill>
              </a:rPr>
              <a:t>Sanli</a:t>
            </a:r>
            <a:r>
              <a:rPr lang="en-US">
                <a:solidFill>
                  <a:srgbClr val="1B1B1B"/>
                </a:solidFill>
              </a:rPr>
              <a:t> O, </a:t>
            </a:r>
            <a:r>
              <a:rPr lang="en-US" err="1">
                <a:solidFill>
                  <a:srgbClr val="1B1B1B"/>
                </a:solidFill>
              </a:rPr>
              <a:t>Dobruch</a:t>
            </a:r>
            <a:r>
              <a:rPr lang="en-US">
                <a:solidFill>
                  <a:srgbClr val="1B1B1B"/>
                </a:solidFill>
              </a:rPr>
              <a:t> J, Knowles MA, et al. Bladder cancer. Nat Rev Dis Primers. 2017;3:17022. </a:t>
            </a:r>
            <a:r>
              <a:rPr lang="en-US" err="1">
                <a:solidFill>
                  <a:srgbClr val="1B1B1B"/>
                </a:solidFill>
              </a:rPr>
              <a:t>doi</a:t>
            </a:r>
            <a:r>
              <a:rPr lang="en-US">
                <a:solidFill>
                  <a:srgbClr val="1B1B1B"/>
                </a:solidFill>
              </a:rPr>
              <a:t>: 10.1038/nrdp.2017.22.</a:t>
            </a:r>
          </a:p>
          <a:p>
            <a:r>
              <a:rPr lang="en-US" dirty="0">
                <a:solidFill>
                  <a:srgbClr val="1B1B1B"/>
                </a:solidFill>
              </a:rPr>
              <a:t>Siegel R, Ma J, Zou Z, Jemal A. Cancer statistics, 2014. CA Cancer J Clin. 2014;64:9–29. </a:t>
            </a:r>
            <a:r>
              <a:rPr lang="en-US" dirty="0" err="1">
                <a:solidFill>
                  <a:srgbClr val="1B1B1B"/>
                </a:solidFill>
              </a:rPr>
              <a:t>doi</a:t>
            </a:r>
            <a:r>
              <a:rPr lang="en-US" dirty="0">
                <a:solidFill>
                  <a:srgbClr val="1B1B1B"/>
                </a:solidFill>
              </a:rPr>
              <a:t>: 10.3322/caac.21208. </a:t>
            </a:r>
            <a:endParaRPr lang="en-US" dirty="0"/>
          </a:p>
        </p:txBody>
      </p:sp>
      <p:sp>
        <p:nvSpPr>
          <p:cNvPr id="4" name="Slide Number Placeholder 3"/>
          <p:cNvSpPr>
            <a:spLocks noGrp="1"/>
          </p:cNvSpPr>
          <p:nvPr>
            <p:ph type="sldNum" sz="quarter" idx="5"/>
          </p:nvPr>
        </p:nvSpPr>
        <p:spPr/>
        <p:txBody>
          <a:bodyPr/>
          <a:lstStyle/>
          <a:p>
            <a:fld id="{410E1B0F-DB8A-4863-A145-9A4C61F31B07}" type="slidenum">
              <a:rPr lang="en-GB"/>
              <a:t>19</a:t>
            </a:fld>
            <a:endParaRPr lang="en-GB"/>
          </a:p>
        </p:txBody>
      </p:sp>
    </p:spTree>
    <p:extLst>
      <p:ext uri="{BB962C8B-B14F-4D97-AF65-F5344CB8AC3E}">
        <p14:creationId xmlns:p14="http://schemas.microsoft.com/office/powerpoint/2010/main" val="1970906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21/08/2025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21/08/2025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21/08/2025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21/08/2025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21/08/2025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21/08/2025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1" name="Group 20">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22" name="Freeform: Shape 21">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649224" y="2221992"/>
            <a:ext cx="4078224" cy="2326570"/>
          </a:xfrm>
        </p:spPr>
        <p:txBody>
          <a:bodyPr vert="horz" lIns="91440" tIns="45720" rIns="91440" bIns="45720" rtlCol="0" anchor="ctr">
            <a:normAutofit/>
          </a:bodyPr>
          <a:lstStyle/>
          <a:p>
            <a:pPr algn="l"/>
            <a:r>
              <a:rPr lang="en-US" sz="2500" b="1" kern="1200" dirty="0">
                <a:solidFill>
                  <a:schemeClr val="tx2"/>
                </a:solidFill>
                <a:latin typeface="Times New Roman" panose="02020603050405020304" pitchFamily="18" charset="0"/>
                <a:cs typeface="Times New Roman" panose="02020603050405020304" pitchFamily="18" charset="0"/>
              </a:rPr>
              <a:t>Microarray-Based Expression Profiling for Identification of Differentially Expressed Genes and Related Pathways in Breast Cancer</a:t>
            </a:r>
          </a:p>
          <a:p>
            <a:pPr algn="l"/>
            <a:endParaRPr lang="en-US" sz="2500" kern="1200" dirty="0">
              <a:solidFill>
                <a:schemeClr val="tx2"/>
              </a:solidFill>
              <a:latin typeface="+mj-lt"/>
              <a:ea typeface="+mj-ea"/>
              <a:cs typeface="+mj-cs"/>
            </a:endParaRPr>
          </a:p>
        </p:txBody>
      </p:sp>
      <p:sp>
        <p:nvSpPr>
          <p:cNvPr id="3" name="Subtitle 2"/>
          <p:cNvSpPr>
            <a:spLocks noGrp="1"/>
          </p:cNvSpPr>
          <p:nvPr>
            <p:ph type="subTitle" idx="1"/>
          </p:nvPr>
        </p:nvSpPr>
        <p:spPr>
          <a:xfrm>
            <a:off x="6298646" y="4010126"/>
            <a:ext cx="5341666" cy="2347467"/>
          </a:xfrm>
          <a:noFill/>
          <a:ln>
            <a:noFill/>
          </a:ln>
        </p:spPr>
        <p:txBody>
          <a:bodyPr vert="horz" lIns="91440" tIns="45720" rIns="91440" bIns="45720" rtlCol="0" anchor="ctr">
            <a:normAutofit/>
          </a:bodyPr>
          <a:lstStyle/>
          <a:p>
            <a:pPr indent="-228600" algn="l">
              <a:spcBef>
                <a:spcPct val="20000"/>
              </a:spcBef>
              <a:buFont typeface="Arial" panose="020B0604020202020204" pitchFamily="34" charset="0"/>
              <a:buChar char="•"/>
            </a:pPr>
            <a:r>
              <a:rPr lang="en-US" sz="1800" dirty="0">
                <a:solidFill>
                  <a:schemeClr val="tx2"/>
                </a:solidFill>
                <a:latin typeface="Times New Roman" panose="02020603050405020304" pitchFamily="18" charset="0"/>
                <a:cs typeface="Times New Roman" panose="02020603050405020304" pitchFamily="18" charset="0"/>
              </a:rPr>
              <a:t>Sayeda Rehmat | VU ID: BC190408541</a:t>
            </a:r>
          </a:p>
          <a:p>
            <a:pPr indent="-228600" algn="l">
              <a:spcBef>
                <a:spcPct val="20000"/>
              </a:spcBef>
              <a:buFont typeface="Arial" panose="020B0604020202020204" pitchFamily="34" charset="0"/>
              <a:buChar char="•"/>
            </a:pPr>
            <a:r>
              <a:rPr lang="en-US" sz="1800" dirty="0">
                <a:solidFill>
                  <a:schemeClr val="tx2"/>
                </a:solidFill>
                <a:latin typeface="Times New Roman" panose="02020603050405020304" pitchFamily="18" charset="0"/>
                <a:cs typeface="Times New Roman" panose="02020603050405020304" pitchFamily="18" charset="0"/>
              </a:rPr>
              <a:t>Supervised by: Saddia Bano</a:t>
            </a:r>
          </a:p>
          <a:p>
            <a:pPr indent="-228600" algn="l">
              <a:buFont typeface="Arial" panose="020B0604020202020204" pitchFamily="34" charset="0"/>
              <a:buChar char="•"/>
            </a:pPr>
            <a:r>
              <a:rPr lang="en-US" sz="1800" dirty="0">
                <a:solidFill>
                  <a:schemeClr val="tx2"/>
                </a:solidFill>
                <a:latin typeface="Times New Roman" panose="02020603050405020304" pitchFamily="18" charset="0"/>
                <a:cs typeface="Times New Roman" panose="02020603050405020304" pitchFamily="18" charset="0"/>
              </a:rPr>
              <a:t>Department: Department of Biological Sciences</a:t>
            </a:r>
          </a:p>
          <a:p>
            <a:pPr indent="-228600" algn="l">
              <a:buFont typeface="Arial" panose="020B0604020202020204" pitchFamily="34" charset="0"/>
              <a:buChar char="•"/>
            </a:pPr>
            <a:r>
              <a:rPr lang="en-US" sz="1800" dirty="0">
                <a:solidFill>
                  <a:schemeClr val="tx2"/>
                </a:solidFill>
                <a:latin typeface="Times New Roman" panose="02020603050405020304" pitchFamily="18" charset="0"/>
                <a:cs typeface="Times New Roman" panose="02020603050405020304" pitchFamily="18" charset="0"/>
              </a:rPr>
              <a:t>Virtual University of Pakistan</a:t>
            </a:r>
          </a:p>
          <a:p>
            <a:pPr indent="-228600" algn="l">
              <a:buFont typeface="Arial" panose="020B0604020202020204" pitchFamily="34" charset="0"/>
              <a:buChar char="•"/>
            </a:pPr>
            <a:endParaRPr lang="en-US" sz="1800" dirty="0">
              <a:solidFill>
                <a:schemeClr val="tx2"/>
              </a:solidFill>
            </a:endParaRPr>
          </a:p>
        </p:txBody>
      </p:sp>
      <p:sp>
        <p:nvSpPr>
          <p:cNvPr id="5" name="Slide Number Placeholder 4">
            <a:extLst>
              <a:ext uri="{FF2B5EF4-FFF2-40B4-BE49-F238E27FC236}">
                <a16:creationId xmlns:a16="http://schemas.microsoft.com/office/drawing/2014/main" id="{D990F889-E6CA-9C74-C10F-8397F141E359}"/>
              </a:ext>
            </a:extLst>
          </p:cNvPr>
          <p:cNvSpPr>
            <a:spLocks noGrp="1"/>
          </p:cNvSpPr>
          <p:nvPr>
            <p:ph type="sldNum" sz="quarter" idx="12"/>
          </p:nvPr>
        </p:nvSpPr>
        <p:spPr/>
        <p:txBody>
          <a:bodyPr/>
          <a:lstStyle/>
          <a:p>
            <a:fld id="{330EA680-D336-4FF7-8B7A-9848BB0A1C32}" type="slidenum">
              <a:rPr lang="en-GB" smtClean="0"/>
              <a:t>1</a:t>
            </a:fld>
            <a:endParaRPr lang="en-GB"/>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F3856E9-4239-4EE7-A372-FDCF4882FD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CC9CDCF-90F8-42B0-BD0A-794C526880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30095"/>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0" name="Group 19">
            <a:extLst>
              <a:ext uri="{FF2B5EF4-FFF2-40B4-BE49-F238E27FC236}">
                <a16:creationId xmlns:a16="http://schemas.microsoft.com/office/drawing/2014/main" id="{C07D05FE-3FB8-4314-A050-9AB40814D7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1219"/>
            <a:ext cx="5646974" cy="6483075"/>
            <a:chOff x="-19221" y="0"/>
            <a:chExt cx="5646974" cy="6483075"/>
          </a:xfrm>
        </p:grpSpPr>
        <p:sp>
          <p:nvSpPr>
            <p:cNvPr id="21" name="Freeform: Shape 20">
              <a:extLst>
                <a:ext uri="{FF2B5EF4-FFF2-40B4-BE49-F238E27FC236}">
                  <a16:creationId xmlns:a16="http://schemas.microsoft.com/office/drawing/2014/main" id="{BDDC6C42-DDD5-4105-85F2-9C052563AE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DFB95E12-4EF0-42F7-BCF9-AD31B4C8E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2338F8B2-67A9-4086-9341-7705CAB6F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E653AAAF-CCEF-494B-9366-16BB3815A6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34B356D9-49C3-412F-8E03-AC9AE8371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981558A-161B-BD9A-B004-F21A0A3B5F0B}"/>
              </a:ext>
            </a:extLst>
          </p:cNvPr>
          <p:cNvSpPr>
            <a:spLocks noGrp="1"/>
          </p:cNvSpPr>
          <p:nvPr>
            <p:ph type="title"/>
          </p:nvPr>
        </p:nvSpPr>
        <p:spPr>
          <a:xfrm>
            <a:off x="1152145" y="2434716"/>
            <a:ext cx="3072384" cy="1561212"/>
          </a:xfrm>
        </p:spPr>
        <p:txBody>
          <a:bodyPr>
            <a:normAutofit/>
          </a:bodyPr>
          <a:lstStyle/>
          <a:p>
            <a:r>
              <a:rPr lang="en-US" sz="4000" b="1" dirty="0">
                <a:solidFill>
                  <a:schemeClr val="tx2"/>
                </a:solidFill>
                <a:latin typeface="Times New Roman" panose="02020603050405020304" pitchFamily="18" charset="0"/>
                <a:ea typeface="Calibri"/>
                <a:cs typeface="Times New Roman" panose="02020603050405020304" pitchFamily="18" charset="0"/>
              </a:rPr>
              <a:t>Outline</a:t>
            </a:r>
            <a:endParaRPr lang="en-GB" sz="4000" b="1" dirty="0">
              <a:solidFill>
                <a:schemeClr val="tx2"/>
              </a:solidFill>
              <a:latin typeface="Times New Roman" panose="02020603050405020304" pitchFamily="18" charset="0"/>
              <a:ea typeface="Calibri"/>
              <a:cs typeface="Times New Roman" panose="02020603050405020304" pitchFamily="18" charset="0"/>
            </a:endParaRPr>
          </a:p>
          <a:p>
            <a:endParaRPr lang="en-GB" sz="4000" dirty="0">
              <a:solidFill>
                <a:schemeClr val="tx2"/>
              </a:solidFill>
            </a:endParaRPr>
          </a:p>
        </p:txBody>
      </p:sp>
      <p:graphicFrame>
        <p:nvGraphicFramePr>
          <p:cNvPr id="5" name="Content Placeholder 2">
            <a:extLst>
              <a:ext uri="{FF2B5EF4-FFF2-40B4-BE49-F238E27FC236}">
                <a16:creationId xmlns:a16="http://schemas.microsoft.com/office/drawing/2014/main" id="{CB1F4BB1-CDBF-F89F-15EC-85206816C85E}"/>
              </a:ext>
            </a:extLst>
          </p:cNvPr>
          <p:cNvGraphicFramePr>
            <a:graphicFrameLocks noGrp="1"/>
          </p:cNvGraphicFramePr>
          <p:nvPr>
            <p:ph idx="1"/>
            <p:extLst>
              <p:ext uri="{D42A27DB-BD31-4B8C-83A1-F6EECF244321}">
                <p14:modId xmlns:p14="http://schemas.microsoft.com/office/powerpoint/2010/main" val="910961510"/>
              </p:ext>
            </p:extLst>
          </p:nvPr>
        </p:nvGraphicFramePr>
        <p:xfrm>
          <a:off x="6091238" y="955653"/>
          <a:ext cx="5115491" cy="49478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3" name="Slide Number Placeholder 42">
            <a:extLst>
              <a:ext uri="{FF2B5EF4-FFF2-40B4-BE49-F238E27FC236}">
                <a16:creationId xmlns:a16="http://schemas.microsoft.com/office/drawing/2014/main" id="{9B422C9D-3CC9-494D-5770-9D6A4C554A97}"/>
              </a:ext>
            </a:extLst>
          </p:cNvPr>
          <p:cNvSpPr>
            <a:spLocks noGrp="1"/>
          </p:cNvSpPr>
          <p:nvPr>
            <p:ph type="sldNum" sz="quarter" idx="12"/>
          </p:nvPr>
        </p:nvSpPr>
        <p:spPr/>
        <p:txBody>
          <a:bodyPr/>
          <a:lstStyle/>
          <a:p>
            <a:fld id="{330EA680-D336-4FF7-8B7A-9848BB0A1C32}" type="slidenum">
              <a:rPr lang="en-GB" smtClean="0"/>
              <a:t>2</a:t>
            </a:fld>
            <a:endParaRPr lang="en-GB"/>
          </a:p>
        </p:txBody>
      </p:sp>
    </p:spTree>
    <p:extLst>
      <p:ext uri="{BB962C8B-B14F-4D97-AF65-F5344CB8AC3E}">
        <p14:creationId xmlns:p14="http://schemas.microsoft.com/office/powerpoint/2010/main" val="3155658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72176C-E517-22CC-2616-52CC0DE02B56}"/>
              </a:ext>
            </a:extLst>
          </p:cNvPr>
          <p:cNvSpPr>
            <a:spLocks noGrp="1"/>
          </p:cNvSpPr>
          <p:nvPr>
            <p:ph type="title"/>
          </p:nvPr>
        </p:nvSpPr>
        <p:spPr>
          <a:xfrm>
            <a:off x="582746" y="1234441"/>
            <a:ext cx="5209799" cy="576072"/>
          </a:xfrm>
        </p:spPr>
        <p:txBody>
          <a:bodyPr>
            <a:normAutofit fontScale="90000"/>
          </a:bodyPr>
          <a:lstStyle/>
          <a:p>
            <a:r>
              <a:rPr lang="en-US" sz="3200" b="1" dirty="0">
                <a:solidFill>
                  <a:schemeClr val="tx2"/>
                </a:solidFill>
                <a:latin typeface="Times New Roman" panose="02020603050405020304" pitchFamily="18" charset="0"/>
                <a:ea typeface="Calibri"/>
                <a:cs typeface="Times New Roman" panose="02020603050405020304" pitchFamily="18" charset="0"/>
              </a:rPr>
              <a:t>Introduction (Breast Cancer)</a:t>
            </a:r>
            <a:endParaRPr lang="en-GB" sz="3200" b="1" dirty="0">
              <a:solidFill>
                <a:schemeClr val="tx2"/>
              </a:solidFill>
              <a:latin typeface="Times New Roman" panose="02020603050405020304" pitchFamily="18" charset="0"/>
              <a:ea typeface="Calibri"/>
              <a:cs typeface="Times New Roman" panose="02020603050405020304" pitchFamily="18" charset="0"/>
            </a:endParaRPr>
          </a:p>
          <a:p>
            <a:endParaRPr lang="en-GB" sz="3600" dirty="0">
              <a:solidFill>
                <a:schemeClr val="tx2"/>
              </a:solidFill>
            </a:endParaRPr>
          </a:p>
        </p:txBody>
      </p:sp>
      <p:sp>
        <p:nvSpPr>
          <p:cNvPr id="3" name="Content Placeholder 2">
            <a:extLst>
              <a:ext uri="{FF2B5EF4-FFF2-40B4-BE49-F238E27FC236}">
                <a16:creationId xmlns:a16="http://schemas.microsoft.com/office/drawing/2014/main" id="{8F6BBB15-67E3-FC94-5B68-CC15D6ECDF71}"/>
              </a:ext>
            </a:extLst>
          </p:cNvPr>
          <p:cNvSpPr>
            <a:spLocks noGrp="1"/>
          </p:cNvSpPr>
          <p:nvPr>
            <p:ph idx="1"/>
          </p:nvPr>
        </p:nvSpPr>
        <p:spPr>
          <a:xfrm>
            <a:off x="582746" y="2121407"/>
            <a:ext cx="4765949" cy="3353476"/>
          </a:xfrm>
        </p:spPr>
        <p:txBody>
          <a:bodyPr vert="horz" lIns="91440" tIns="45720" rIns="91440" bIns="45720" rtlCol="0" anchor="t">
            <a:normAutofit fontScale="92500" lnSpcReduction="20000"/>
          </a:bodyPr>
          <a:lstStyle/>
          <a:p>
            <a:r>
              <a:rPr lang="en-GB" sz="1800" dirty="0">
                <a:solidFill>
                  <a:schemeClr val="tx2"/>
                </a:solidFill>
                <a:latin typeface="Times New Roman" panose="02020603050405020304" pitchFamily="18" charset="0"/>
                <a:cs typeface="Times New Roman" panose="02020603050405020304" pitchFamily="18" charset="0"/>
              </a:rPr>
              <a:t>Breast cancer is one of the most common types of cancer in women, making up about 1 in 4 cancer cases </a:t>
            </a:r>
          </a:p>
          <a:p>
            <a:r>
              <a:rPr lang="en-GB" sz="1800" dirty="0">
                <a:solidFill>
                  <a:schemeClr val="tx2"/>
                </a:solidFill>
                <a:latin typeface="Times New Roman" panose="02020603050405020304" pitchFamily="18" charset="0"/>
                <a:cs typeface="Times New Roman" panose="02020603050405020304" pitchFamily="18" charset="0"/>
              </a:rPr>
              <a:t>The breast is not a vital organ for staying alive, and early-stage breast cancer is not life-threatening.</a:t>
            </a:r>
          </a:p>
          <a:p>
            <a:r>
              <a:rPr lang="en-GB" sz="1800" dirty="0">
                <a:solidFill>
                  <a:schemeClr val="tx2"/>
                </a:solidFill>
                <a:latin typeface="Times New Roman" panose="02020603050405020304" pitchFamily="18" charset="0"/>
                <a:cs typeface="Times New Roman" panose="02020603050405020304" pitchFamily="18" charset="0"/>
              </a:rPr>
              <a:t>Cancer cells are abnormal, they don’t stick together well and can break off easily</a:t>
            </a:r>
            <a:r>
              <a:rPr lang="en-GB" sz="1800" dirty="0">
                <a:solidFill>
                  <a:schemeClr val="tx2"/>
                </a:solidFill>
              </a:rPr>
              <a:t>.</a:t>
            </a:r>
          </a:p>
          <a:p>
            <a:r>
              <a:rPr lang="en-GB" sz="1800" dirty="0">
                <a:solidFill>
                  <a:schemeClr val="tx2"/>
                </a:solidFill>
                <a:latin typeface="Times New Roman" panose="02020603050405020304" pitchFamily="18" charset="0"/>
                <a:cs typeface="Times New Roman" panose="02020603050405020304" pitchFamily="18" charset="0"/>
              </a:rPr>
              <a:t>These cells can then travel through the blood or lymph system and spread to other parts of the body (this is called metastasis).</a:t>
            </a:r>
          </a:p>
          <a:p>
            <a:r>
              <a:rPr lang="en-GB" sz="1800" dirty="0">
                <a:solidFill>
                  <a:schemeClr val="tx2"/>
                </a:solidFill>
                <a:latin typeface="Times New Roman" panose="02020603050405020304" pitchFamily="18" charset="0"/>
                <a:cs typeface="Times New Roman" panose="02020603050405020304" pitchFamily="18" charset="0"/>
              </a:rPr>
              <a:t>Even though diagnosis and treatment have improved, many patients still face poor outcomes and survival rates.</a:t>
            </a:r>
          </a:p>
          <a:p>
            <a:endParaRPr lang="en-GB" sz="1800" dirty="0">
              <a:solidFill>
                <a:schemeClr val="tx2"/>
              </a:solidFill>
            </a:endParaRPr>
          </a:p>
        </p:txBody>
      </p:sp>
      <p:grpSp>
        <p:nvGrpSpPr>
          <p:cNvPr id="29" name="Group 28">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30" name="Freeform: Shape 29">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C2D127DD-C518-7E3B-F024-7258D1FA6290}"/>
              </a:ext>
            </a:extLst>
          </p:cNvPr>
          <p:cNvPicPr>
            <a:picLocks noChangeAspect="1"/>
          </p:cNvPicPr>
          <p:nvPr/>
        </p:nvPicPr>
        <p:blipFill>
          <a:blip r:embed="rId3"/>
          <a:srcRect t="1976" b="3459"/>
          <a:stretch>
            <a:fillRect/>
          </a:stretch>
        </p:blipFill>
        <p:spPr>
          <a:xfrm>
            <a:off x="7708392" y="2421859"/>
            <a:ext cx="4142232" cy="2937826"/>
          </a:xfrm>
          <a:prstGeom prst="rect">
            <a:avLst/>
          </a:prstGeom>
        </p:spPr>
      </p:pic>
      <p:sp>
        <p:nvSpPr>
          <p:cNvPr id="6" name="Slide Number Placeholder 5">
            <a:extLst>
              <a:ext uri="{FF2B5EF4-FFF2-40B4-BE49-F238E27FC236}">
                <a16:creationId xmlns:a16="http://schemas.microsoft.com/office/drawing/2014/main" id="{548062E3-670C-FECF-392E-6E64310BBC86}"/>
              </a:ext>
            </a:extLst>
          </p:cNvPr>
          <p:cNvSpPr>
            <a:spLocks noGrp="1"/>
          </p:cNvSpPr>
          <p:nvPr>
            <p:ph type="sldNum" sz="quarter" idx="12"/>
          </p:nvPr>
        </p:nvSpPr>
        <p:spPr/>
        <p:txBody>
          <a:bodyPr/>
          <a:lstStyle/>
          <a:p>
            <a:fld id="{330EA680-D336-4FF7-8B7A-9848BB0A1C32}" type="slidenum">
              <a:rPr lang="en-GB" smtClean="0"/>
              <a:t>3</a:t>
            </a:fld>
            <a:endParaRPr lang="en-GB"/>
          </a:p>
        </p:txBody>
      </p:sp>
    </p:spTree>
    <p:extLst>
      <p:ext uri="{BB962C8B-B14F-4D97-AF65-F5344CB8AC3E}">
        <p14:creationId xmlns:p14="http://schemas.microsoft.com/office/powerpoint/2010/main" val="1644649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B920F7-D7A2-A288-2AAF-1580A2ECC096}"/>
              </a:ext>
            </a:extLst>
          </p:cNvPr>
          <p:cNvSpPr>
            <a:spLocks noGrp="1"/>
          </p:cNvSpPr>
          <p:nvPr>
            <p:ph type="title"/>
          </p:nvPr>
        </p:nvSpPr>
        <p:spPr>
          <a:xfrm>
            <a:off x="6094105" y="802955"/>
            <a:ext cx="4977976" cy="1454051"/>
          </a:xfrm>
        </p:spPr>
        <p:txBody>
          <a:bodyPr>
            <a:normAutofit/>
          </a:bodyPr>
          <a:lstStyle/>
          <a:p>
            <a:r>
              <a:rPr lang="en-GB" sz="3600" b="1" dirty="0">
                <a:solidFill>
                  <a:schemeClr val="tx2"/>
                </a:solidFill>
                <a:latin typeface="Times New Roman" panose="02020603050405020304" pitchFamily="18" charset="0"/>
                <a:ea typeface="+mj-lt"/>
                <a:cs typeface="Times New Roman" panose="02020603050405020304" pitchFamily="18" charset="0"/>
              </a:rPr>
              <a:t>Why Gene Expression Studies?</a:t>
            </a:r>
            <a:endParaRPr lang="en-US" sz="3600" b="1" dirty="0">
              <a:solidFill>
                <a:schemeClr val="tx2"/>
              </a:solidFill>
              <a:latin typeface="Times New Roman" panose="02020603050405020304" pitchFamily="18" charset="0"/>
              <a:cs typeface="Times New Roman" panose="02020603050405020304" pitchFamily="18" charset="0"/>
            </a:endParaRPr>
          </a:p>
        </p:txBody>
      </p:sp>
      <p:pic>
        <p:nvPicPr>
          <p:cNvPr id="7" name="Graphic 6" descr="DNA">
            <a:extLst>
              <a:ext uri="{FF2B5EF4-FFF2-40B4-BE49-F238E27FC236}">
                <a16:creationId xmlns:a16="http://schemas.microsoft.com/office/drawing/2014/main" id="{36DABD63-4DF5-F8E2-0573-AF562DAD5F1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C89CFEE3-AF30-1BAC-F762-327C6549C954}"/>
              </a:ext>
            </a:extLst>
          </p:cNvPr>
          <p:cNvSpPr>
            <a:spLocks noGrp="1"/>
          </p:cNvSpPr>
          <p:nvPr>
            <p:ph idx="1"/>
          </p:nvPr>
        </p:nvSpPr>
        <p:spPr>
          <a:xfrm>
            <a:off x="6090574" y="2421682"/>
            <a:ext cx="4977578" cy="3639289"/>
          </a:xfrm>
        </p:spPr>
        <p:txBody>
          <a:bodyPr vert="horz" lIns="91440" tIns="45720" rIns="91440" bIns="45720" rtlCol="0" anchor="ctr">
            <a:normAutofit/>
          </a:bodyPr>
          <a:lstStyle/>
          <a:p>
            <a:r>
              <a:rPr lang="en-GB" sz="1600" dirty="0">
                <a:solidFill>
                  <a:schemeClr val="tx2"/>
                </a:solidFill>
                <a:latin typeface="Times New Roman" panose="02020603050405020304" pitchFamily="18" charset="0"/>
                <a:cs typeface="Times New Roman" panose="02020603050405020304" pitchFamily="18" charset="0"/>
              </a:rPr>
              <a:t>Old methods can only look at a few genes at a time, so they don’t give the full picture.</a:t>
            </a:r>
          </a:p>
          <a:p>
            <a:r>
              <a:rPr lang="en-GB" sz="1600" dirty="0">
                <a:solidFill>
                  <a:schemeClr val="tx2"/>
                </a:solidFill>
                <a:latin typeface="Times New Roman" panose="02020603050405020304" pitchFamily="18" charset="0"/>
                <a:cs typeface="Times New Roman" panose="02020603050405020304" pitchFamily="18" charset="0"/>
              </a:rPr>
              <a:t>Gene expression studies (like microarrays) let scientists study thousands of genes at once.</a:t>
            </a:r>
          </a:p>
          <a:p>
            <a:r>
              <a:rPr lang="en-GB" sz="1600" dirty="0">
                <a:solidFill>
                  <a:schemeClr val="tx2"/>
                </a:solidFill>
                <a:latin typeface="Times New Roman" panose="02020603050405020304" pitchFamily="18" charset="0"/>
                <a:cs typeface="Times New Roman" panose="02020603050405020304" pitchFamily="18" charset="0"/>
              </a:rPr>
              <a:t>This helps us better understand how cancer works at the genetic level.</a:t>
            </a:r>
          </a:p>
          <a:p>
            <a:r>
              <a:rPr lang="en-GB" sz="1600" dirty="0">
                <a:solidFill>
                  <a:schemeClr val="tx2"/>
                </a:solidFill>
                <a:latin typeface="Times New Roman" panose="02020603050405020304" pitchFamily="18" charset="0"/>
                <a:cs typeface="Times New Roman" panose="02020603050405020304" pitchFamily="18" charset="0"/>
              </a:rPr>
              <a:t>It’s useful for:</a:t>
            </a:r>
          </a:p>
          <a:p>
            <a:pPr lvl="1"/>
            <a:r>
              <a:rPr lang="en-GB" sz="1600" dirty="0">
                <a:solidFill>
                  <a:schemeClr val="tx2"/>
                </a:solidFill>
                <a:latin typeface="Times New Roman" panose="02020603050405020304" pitchFamily="18" charset="0"/>
                <a:cs typeface="Times New Roman" panose="02020603050405020304" pitchFamily="18" charset="0"/>
              </a:rPr>
              <a:t>Finding early signs (biomarkers) of cancer</a:t>
            </a:r>
          </a:p>
          <a:p>
            <a:pPr lvl="1"/>
            <a:r>
              <a:rPr lang="en-GB" sz="1600" dirty="0">
                <a:solidFill>
                  <a:schemeClr val="tx2"/>
                </a:solidFill>
                <a:latin typeface="Times New Roman" panose="02020603050405020304" pitchFamily="18" charset="0"/>
                <a:cs typeface="Times New Roman" panose="02020603050405020304" pitchFamily="18" charset="0"/>
              </a:rPr>
              <a:t>Discovering new treatment targets</a:t>
            </a:r>
          </a:p>
          <a:p>
            <a:pPr lvl="1"/>
            <a:r>
              <a:rPr lang="en-GB" sz="1600" dirty="0">
                <a:solidFill>
                  <a:schemeClr val="tx2"/>
                </a:solidFill>
                <a:latin typeface="Times New Roman" panose="02020603050405020304" pitchFamily="18" charset="0"/>
                <a:cs typeface="Times New Roman" panose="02020603050405020304" pitchFamily="18" charset="0"/>
              </a:rPr>
              <a:t>Understanding why some cancers grow fast or resist treatment</a:t>
            </a:r>
          </a:p>
          <a:p>
            <a:pPr lvl="1"/>
            <a:r>
              <a:rPr lang="en-GB" sz="1600" dirty="0">
                <a:solidFill>
                  <a:schemeClr val="tx2"/>
                </a:solidFill>
                <a:latin typeface="Times New Roman" panose="02020603050405020304" pitchFamily="18" charset="0"/>
                <a:cs typeface="Times New Roman" panose="02020603050405020304" pitchFamily="18" charset="0"/>
              </a:rPr>
              <a:t>Overall, it helps doctors give more accurate and personalized treatments.</a:t>
            </a: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Slide Number Placeholder 4">
            <a:extLst>
              <a:ext uri="{FF2B5EF4-FFF2-40B4-BE49-F238E27FC236}">
                <a16:creationId xmlns:a16="http://schemas.microsoft.com/office/drawing/2014/main" id="{D97B4A96-327D-316D-EFB3-2A27A02E7BD5}"/>
              </a:ext>
            </a:extLst>
          </p:cNvPr>
          <p:cNvSpPr>
            <a:spLocks noGrp="1"/>
          </p:cNvSpPr>
          <p:nvPr>
            <p:ph type="sldNum" sz="quarter" idx="12"/>
          </p:nvPr>
        </p:nvSpPr>
        <p:spPr/>
        <p:txBody>
          <a:bodyPr/>
          <a:lstStyle/>
          <a:p>
            <a:fld id="{330EA680-D336-4FF7-8B7A-9848BB0A1C32}" type="slidenum">
              <a:rPr lang="en-GB" smtClean="0"/>
              <a:t>4</a:t>
            </a:fld>
            <a:endParaRPr lang="en-GB"/>
          </a:p>
        </p:txBody>
      </p:sp>
    </p:spTree>
    <p:extLst>
      <p:ext uri="{BB962C8B-B14F-4D97-AF65-F5344CB8AC3E}">
        <p14:creationId xmlns:p14="http://schemas.microsoft.com/office/powerpoint/2010/main" val="2667456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85CBEB58-858E-5FA6-A17B-48EA09C65899}"/>
              </a:ext>
            </a:extLst>
          </p:cNvPr>
          <p:cNvSpPr>
            <a:spLocks noGrp="1"/>
          </p:cNvSpPr>
          <p:nvPr>
            <p:ph type="title"/>
          </p:nvPr>
        </p:nvSpPr>
        <p:spPr>
          <a:xfrm>
            <a:off x="804672" y="457200"/>
            <a:ext cx="10579608" cy="1188720"/>
          </a:xfrm>
        </p:spPr>
        <p:txBody>
          <a:bodyPr>
            <a:normAutofit/>
          </a:bodyPr>
          <a:lstStyle/>
          <a:p>
            <a:r>
              <a:rPr lang="en-GB" sz="3600" b="1" dirty="0">
                <a:solidFill>
                  <a:schemeClr val="tx2"/>
                </a:solidFill>
                <a:latin typeface="Times New Roman" panose="02020603050405020304" pitchFamily="18" charset="0"/>
                <a:ea typeface="+mj-lt"/>
                <a:cs typeface="Times New Roman" panose="02020603050405020304" pitchFamily="18" charset="0"/>
              </a:rPr>
              <a:t>Objectives of the study </a:t>
            </a:r>
            <a:endParaRPr lang="en-US" sz="3600" b="1" dirty="0">
              <a:latin typeface="Times New Roman" panose="02020603050405020304" pitchFamily="18" charset="0"/>
              <a:cs typeface="Times New Roman" panose="02020603050405020304" pitchFamily="18" charset="0"/>
            </a:endParaRPr>
          </a:p>
        </p:txBody>
      </p:sp>
      <p:grpSp>
        <p:nvGrpSpPr>
          <p:cNvPr id="13" name="Group 12">
            <a:extLst>
              <a:ext uri="{FF2B5EF4-FFF2-40B4-BE49-F238E27FC236}">
                <a16:creationId xmlns:a16="http://schemas.microsoft.com/office/drawing/2014/main" id="{76566969-F813-4CC5-B3E9-363D85B55C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881264" y="-5116"/>
            <a:ext cx="3318648" cy="2490264"/>
            <a:chOff x="-305" y="-1"/>
            <a:chExt cx="3832880" cy="2876136"/>
          </a:xfrm>
        </p:grpSpPr>
        <p:sp>
          <p:nvSpPr>
            <p:cNvPr id="14" name="Freeform: Shape 13">
              <a:extLst>
                <a:ext uri="{FF2B5EF4-FFF2-40B4-BE49-F238E27FC236}">
                  <a16:creationId xmlns:a16="http://schemas.microsoft.com/office/drawing/2014/main" id="{AF8CF66C-45E2-456B-92B0-9E97A331D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65D590E-D70D-4D25-B853-D5208F2AA3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231501E-3F84-4705-A001-13995FA68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52617E4-47FD-4C38-8F70-93BF9B125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0217D733-97B6-4C43-AF0C-5E3CB0EA13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07887"/>
            <a:ext cx="2605762" cy="2252847"/>
            <a:chOff x="-305" y="-4155"/>
            <a:chExt cx="2514948" cy="2174333"/>
          </a:xfrm>
        </p:grpSpPr>
        <p:sp>
          <p:nvSpPr>
            <p:cNvPr id="20" name="Freeform: Shape 19">
              <a:extLst>
                <a:ext uri="{FF2B5EF4-FFF2-40B4-BE49-F238E27FC236}">
                  <a16:creationId xmlns:a16="http://schemas.microsoft.com/office/drawing/2014/main" id="{FD288266-7E76-4D4A-BAAC-E233FA013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697F88A-8624-4BA2-AF06-E6C3A52F0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8CA77163-C052-481C-9DCF-68C23ACAB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3" name="Freeform: Shape 22">
              <a:extLst>
                <a:ext uri="{FF2B5EF4-FFF2-40B4-BE49-F238E27FC236}">
                  <a16:creationId xmlns:a16="http://schemas.microsoft.com/office/drawing/2014/main" id="{02B425B5-0A0E-4B85-B718-E5DA73431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5" name="Content Placeholder 2">
            <a:extLst>
              <a:ext uri="{FF2B5EF4-FFF2-40B4-BE49-F238E27FC236}">
                <a16:creationId xmlns:a16="http://schemas.microsoft.com/office/drawing/2014/main" id="{332314D2-DEA6-019C-C529-991868002E08}"/>
              </a:ext>
            </a:extLst>
          </p:cNvPr>
          <p:cNvGraphicFramePr>
            <a:graphicFrameLocks noGrp="1"/>
          </p:cNvGraphicFramePr>
          <p:nvPr>
            <p:ph idx="1"/>
            <p:extLst>
              <p:ext uri="{D42A27DB-BD31-4B8C-83A1-F6EECF244321}">
                <p14:modId xmlns:p14="http://schemas.microsoft.com/office/powerpoint/2010/main" val="8429335"/>
              </p:ext>
            </p:extLst>
          </p:nvPr>
        </p:nvGraphicFramePr>
        <p:xfrm>
          <a:off x="1036320" y="2560320"/>
          <a:ext cx="10119360" cy="3566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1" name="Slide Number Placeholder 40">
            <a:extLst>
              <a:ext uri="{FF2B5EF4-FFF2-40B4-BE49-F238E27FC236}">
                <a16:creationId xmlns:a16="http://schemas.microsoft.com/office/drawing/2014/main" id="{29E26611-9D1C-BC83-A927-9D50043AC24D}"/>
              </a:ext>
            </a:extLst>
          </p:cNvPr>
          <p:cNvSpPr>
            <a:spLocks noGrp="1"/>
          </p:cNvSpPr>
          <p:nvPr>
            <p:ph type="sldNum" sz="quarter" idx="12"/>
          </p:nvPr>
        </p:nvSpPr>
        <p:spPr/>
        <p:txBody>
          <a:bodyPr/>
          <a:lstStyle/>
          <a:p>
            <a:fld id="{330EA680-D336-4FF7-8B7A-9848BB0A1C32}" type="slidenum">
              <a:rPr lang="en-GB" smtClean="0"/>
              <a:t>5</a:t>
            </a:fld>
            <a:endParaRPr lang="en-GB"/>
          </a:p>
        </p:txBody>
      </p:sp>
    </p:spTree>
    <p:extLst>
      <p:ext uri="{BB962C8B-B14F-4D97-AF65-F5344CB8AC3E}">
        <p14:creationId xmlns:p14="http://schemas.microsoft.com/office/powerpoint/2010/main" val="2577435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6A7EEB94-9DBF-40C4-6248-B7B3A2643BED}"/>
              </a:ext>
            </a:extLst>
          </p:cNvPr>
          <p:cNvSpPr>
            <a:spLocks noGrp="1"/>
          </p:cNvSpPr>
          <p:nvPr>
            <p:ph type="title"/>
          </p:nvPr>
        </p:nvSpPr>
        <p:spPr>
          <a:xfrm>
            <a:off x="420624" y="2053641"/>
            <a:ext cx="4370832" cy="2760098"/>
          </a:xfrm>
        </p:spPr>
        <p:txBody>
          <a:bodyPr>
            <a:normAutofit/>
          </a:bodyPr>
          <a:lstStyle/>
          <a:p>
            <a:r>
              <a:rPr lang="en-GB" sz="3600" b="1" dirty="0">
                <a:solidFill>
                  <a:schemeClr val="tx2"/>
                </a:solidFill>
                <a:latin typeface="Times New Roman" panose="02020603050405020304" pitchFamily="18" charset="0"/>
                <a:ea typeface="+mj-lt"/>
                <a:cs typeface="Times New Roman" panose="02020603050405020304" pitchFamily="18" charset="0"/>
              </a:rPr>
              <a:t>Dataset Information</a:t>
            </a:r>
            <a:endParaRPr lang="en-US" sz="3600" b="1" dirty="0">
              <a:solidFill>
                <a:schemeClr val="tx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27574C-1608-289B-09A7-CD501A88D5CA}"/>
              </a:ext>
            </a:extLst>
          </p:cNvPr>
          <p:cNvSpPr>
            <a:spLocks noGrp="1"/>
          </p:cNvSpPr>
          <p:nvPr>
            <p:ph idx="1"/>
          </p:nvPr>
        </p:nvSpPr>
        <p:spPr>
          <a:xfrm>
            <a:off x="6090574" y="801866"/>
            <a:ext cx="5306084" cy="5230634"/>
          </a:xfrm>
          <a:noFill/>
          <a:ln>
            <a:noFill/>
          </a:ln>
        </p:spPr>
        <p:txBody>
          <a:bodyPr vert="horz" lIns="91440" tIns="45720" rIns="91440" bIns="45720" rtlCol="0" anchor="ctr">
            <a:normAutofit/>
          </a:bodyPr>
          <a:lstStyle/>
          <a:p>
            <a:r>
              <a:rPr lang="en-GB" sz="2000" b="1" dirty="0">
                <a:solidFill>
                  <a:schemeClr val="tx2"/>
                </a:solidFill>
                <a:latin typeface="Times New Roman" panose="02020603050405020304" pitchFamily="18" charset="0"/>
                <a:ea typeface="+mn-lt"/>
                <a:cs typeface="Times New Roman" panose="02020603050405020304" pitchFamily="18" charset="0"/>
              </a:rPr>
              <a:t>GSE15852</a:t>
            </a:r>
            <a:r>
              <a:rPr lang="en-GB" sz="2000" dirty="0">
                <a:solidFill>
                  <a:schemeClr val="tx2"/>
                </a:solidFill>
                <a:latin typeface="Times New Roman" panose="02020603050405020304" pitchFamily="18" charset="0"/>
                <a:ea typeface="+mn-lt"/>
                <a:cs typeface="Times New Roman" panose="02020603050405020304" pitchFamily="18" charset="0"/>
              </a:rPr>
              <a:t> (43 breast </a:t>
            </a:r>
            <a:r>
              <a:rPr lang="en-GB" sz="2000" dirty="0" err="1">
                <a:solidFill>
                  <a:schemeClr val="tx2"/>
                </a:solidFill>
                <a:latin typeface="Times New Roman" panose="02020603050405020304" pitchFamily="18" charset="0"/>
                <a:ea typeface="+mn-lt"/>
                <a:cs typeface="Times New Roman" panose="02020603050405020304" pitchFamily="18" charset="0"/>
              </a:rPr>
              <a:t>tumor</a:t>
            </a:r>
            <a:r>
              <a:rPr lang="en-GB" sz="2000" dirty="0">
                <a:solidFill>
                  <a:schemeClr val="tx2"/>
                </a:solidFill>
                <a:latin typeface="Times New Roman" panose="02020603050405020304" pitchFamily="18" charset="0"/>
                <a:ea typeface="+mn-lt"/>
                <a:cs typeface="Times New Roman" panose="02020603050405020304" pitchFamily="18" charset="0"/>
              </a:rPr>
              <a:t>, 43 normal)</a:t>
            </a:r>
            <a:endParaRPr lang="en-GB" sz="2000" dirty="0">
              <a:solidFill>
                <a:schemeClr val="tx2"/>
              </a:solidFill>
              <a:latin typeface="Times New Roman" panose="02020603050405020304" pitchFamily="18" charset="0"/>
              <a:cs typeface="Times New Roman" panose="02020603050405020304" pitchFamily="18" charset="0"/>
            </a:endParaRPr>
          </a:p>
          <a:p>
            <a:r>
              <a:rPr lang="en-GB" sz="2000" dirty="0">
                <a:solidFill>
                  <a:schemeClr val="tx2"/>
                </a:solidFill>
                <a:latin typeface="Times New Roman" panose="02020603050405020304" pitchFamily="18" charset="0"/>
                <a:ea typeface="+mn-lt"/>
                <a:cs typeface="Times New Roman" panose="02020603050405020304" pitchFamily="18" charset="0"/>
              </a:rPr>
              <a:t>Source: </a:t>
            </a:r>
            <a:r>
              <a:rPr lang="en-GB" sz="2000" b="1" dirty="0">
                <a:solidFill>
                  <a:schemeClr val="tx2"/>
                </a:solidFill>
                <a:latin typeface="Times New Roman" panose="02020603050405020304" pitchFamily="18" charset="0"/>
                <a:ea typeface="+mn-lt"/>
                <a:cs typeface="Times New Roman" panose="02020603050405020304" pitchFamily="18" charset="0"/>
              </a:rPr>
              <a:t>GEO database</a:t>
            </a:r>
            <a:endParaRPr lang="en-GB" sz="2000" dirty="0">
              <a:solidFill>
                <a:schemeClr val="tx2"/>
              </a:solidFill>
              <a:latin typeface="Times New Roman" panose="02020603050405020304" pitchFamily="18" charset="0"/>
              <a:cs typeface="Times New Roman" panose="02020603050405020304" pitchFamily="18" charset="0"/>
            </a:endParaRPr>
          </a:p>
          <a:p>
            <a:r>
              <a:rPr lang="en-GB" sz="2000" dirty="0">
                <a:solidFill>
                  <a:schemeClr val="tx2"/>
                </a:solidFill>
                <a:latin typeface="Times New Roman" panose="02020603050405020304" pitchFamily="18" charset="0"/>
                <a:ea typeface="+mn-lt"/>
                <a:cs typeface="Times New Roman" panose="02020603050405020304" pitchFamily="18" charset="0"/>
              </a:rPr>
              <a:t>Platform: </a:t>
            </a:r>
            <a:r>
              <a:rPr lang="en-GB" sz="2000" b="1" dirty="0">
                <a:solidFill>
                  <a:schemeClr val="tx2"/>
                </a:solidFill>
                <a:latin typeface="Times New Roman" panose="02020603050405020304" pitchFamily="18" charset="0"/>
                <a:ea typeface="+mn-lt"/>
                <a:cs typeface="Times New Roman" panose="02020603050405020304" pitchFamily="18" charset="0"/>
              </a:rPr>
              <a:t>Affymetrix Human Genome U133A Array</a:t>
            </a:r>
            <a:endParaRPr lang="en-GB" sz="2000" dirty="0">
              <a:solidFill>
                <a:schemeClr val="tx2"/>
              </a:solidFill>
              <a:latin typeface="Times New Roman" panose="02020603050405020304" pitchFamily="18" charset="0"/>
              <a:cs typeface="Times New Roman" panose="02020603050405020304" pitchFamily="18" charset="0"/>
            </a:endParaRPr>
          </a:p>
          <a:p>
            <a:endParaRPr lang="en-GB" sz="1800" dirty="0">
              <a:solidFill>
                <a:schemeClr val="tx2"/>
              </a:solidFill>
            </a:endParaRPr>
          </a:p>
        </p:txBody>
      </p:sp>
      <p:sp>
        <p:nvSpPr>
          <p:cNvPr id="5" name="Slide Number Placeholder 4">
            <a:extLst>
              <a:ext uri="{FF2B5EF4-FFF2-40B4-BE49-F238E27FC236}">
                <a16:creationId xmlns:a16="http://schemas.microsoft.com/office/drawing/2014/main" id="{74453528-8140-D864-7291-F10FC197D063}"/>
              </a:ext>
            </a:extLst>
          </p:cNvPr>
          <p:cNvSpPr>
            <a:spLocks noGrp="1"/>
          </p:cNvSpPr>
          <p:nvPr>
            <p:ph type="sldNum" sz="quarter" idx="12"/>
          </p:nvPr>
        </p:nvSpPr>
        <p:spPr/>
        <p:txBody>
          <a:bodyPr/>
          <a:lstStyle/>
          <a:p>
            <a:fld id="{330EA680-D336-4FF7-8B7A-9848BB0A1C32}" type="slidenum">
              <a:rPr lang="en-GB" smtClean="0"/>
              <a:t>6</a:t>
            </a:fld>
            <a:endParaRPr lang="en-GB"/>
          </a:p>
        </p:txBody>
      </p:sp>
    </p:spTree>
    <p:extLst>
      <p:ext uri="{BB962C8B-B14F-4D97-AF65-F5344CB8AC3E}">
        <p14:creationId xmlns:p14="http://schemas.microsoft.com/office/powerpoint/2010/main" val="2715604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1D677B-AF0C-D8FB-EEF4-867FB28C5D38}"/>
              </a:ext>
            </a:extLst>
          </p:cNvPr>
          <p:cNvSpPr>
            <a:spLocks noGrp="1"/>
          </p:cNvSpPr>
          <p:nvPr>
            <p:ph type="title"/>
          </p:nvPr>
        </p:nvSpPr>
        <p:spPr>
          <a:xfrm>
            <a:off x="804672" y="802955"/>
            <a:ext cx="4766330" cy="1454051"/>
          </a:xfrm>
        </p:spPr>
        <p:txBody>
          <a:bodyPr vert="horz" lIns="91440" tIns="45720" rIns="91440" bIns="45720" rtlCol="0">
            <a:normAutofit/>
          </a:bodyPr>
          <a:lstStyle/>
          <a:p>
            <a:r>
              <a:rPr lang="en-US" sz="3600" kern="1200">
                <a:solidFill>
                  <a:schemeClr val="tx2"/>
                </a:solidFill>
                <a:latin typeface="+mj-lt"/>
                <a:ea typeface="+mj-ea"/>
                <a:cs typeface="+mj-cs"/>
              </a:rPr>
              <a:t>Workflow Diagram</a:t>
            </a:r>
          </a:p>
        </p:txBody>
      </p:sp>
      <p:grpSp>
        <p:nvGrpSpPr>
          <p:cNvPr id="59" name="Group 58">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60" name="Freeform: Shape 59">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Content Placeholder 3" descr="A diagram of data processing&#10;&#10;AI-generated content may be incorrect.">
            <a:extLst>
              <a:ext uri="{FF2B5EF4-FFF2-40B4-BE49-F238E27FC236}">
                <a16:creationId xmlns:a16="http://schemas.microsoft.com/office/drawing/2014/main" id="{D3E7B555-CA23-DADC-37E7-EA6BECABDA63}"/>
              </a:ext>
            </a:extLst>
          </p:cNvPr>
          <p:cNvPicPr>
            <a:picLocks noChangeAspect="1"/>
          </p:cNvPicPr>
          <p:nvPr/>
        </p:nvPicPr>
        <p:blipFill>
          <a:blip r:embed="rId2"/>
          <a:stretch>
            <a:fillRect/>
          </a:stretch>
        </p:blipFill>
        <p:spPr>
          <a:xfrm>
            <a:off x="4647692" y="803568"/>
            <a:ext cx="7431532" cy="5514007"/>
          </a:xfrm>
          <a:prstGeom prst="rect">
            <a:avLst/>
          </a:prstGeom>
        </p:spPr>
      </p:pic>
      <p:sp>
        <p:nvSpPr>
          <p:cNvPr id="5" name="Slide Number Placeholder 4">
            <a:extLst>
              <a:ext uri="{FF2B5EF4-FFF2-40B4-BE49-F238E27FC236}">
                <a16:creationId xmlns:a16="http://schemas.microsoft.com/office/drawing/2014/main" id="{F3FE14F6-686B-31F1-0749-A879775E6C5A}"/>
              </a:ext>
            </a:extLst>
          </p:cNvPr>
          <p:cNvSpPr>
            <a:spLocks noGrp="1"/>
          </p:cNvSpPr>
          <p:nvPr>
            <p:ph type="sldNum" sz="quarter" idx="12"/>
          </p:nvPr>
        </p:nvSpPr>
        <p:spPr/>
        <p:txBody>
          <a:bodyPr/>
          <a:lstStyle/>
          <a:p>
            <a:fld id="{330EA680-D336-4FF7-8B7A-9848BB0A1C32}" type="slidenum">
              <a:rPr lang="en-GB" smtClean="0"/>
              <a:t>7</a:t>
            </a:fld>
            <a:endParaRPr lang="en-GB"/>
          </a:p>
        </p:txBody>
      </p:sp>
    </p:spTree>
    <p:extLst>
      <p:ext uri="{BB962C8B-B14F-4D97-AF65-F5344CB8AC3E}">
        <p14:creationId xmlns:p14="http://schemas.microsoft.com/office/powerpoint/2010/main" val="2653573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6C6C86-B199-8DF1-B314-67E290E7EB37}"/>
              </a:ext>
            </a:extLst>
          </p:cNvPr>
          <p:cNvSpPr>
            <a:spLocks noGrp="1"/>
          </p:cNvSpPr>
          <p:nvPr>
            <p:ph type="title"/>
          </p:nvPr>
        </p:nvSpPr>
        <p:spPr>
          <a:xfrm>
            <a:off x="1016668" y="1154836"/>
            <a:ext cx="9829800" cy="859985"/>
          </a:xfrm>
        </p:spPr>
        <p:txBody>
          <a:bodyPr anchor="b">
            <a:normAutofit/>
          </a:bodyPr>
          <a:lstStyle/>
          <a:p>
            <a:pPr algn="ctr"/>
            <a:r>
              <a:rPr lang="en-GB" sz="3600" b="1" dirty="0">
                <a:solidFill>
                  <a:schemeClr val="tx2"/>
                </a:solidFill>
                <a:latin typeface="Times New Roman" panose="02020603050405020304" pitchFamily="18" charset="0"/>
                <a:cs typeface="Times New Roman" panose="02020603050405020304" pitchFamily="18" charset="0"/>
              </a:rPr>
              <a:t>Results</a:t>
            </a:r>
            <a:endParaRPr lang="en-US" sz="3600" b="1" dirty="0">
              <a:solidFill>
                <a:schemeClr val="tx2"/>
              </a:solidFill>
              <a:latin typeface="Times New Roman" panose="02020603050405020304" pitchFamily="18" charset="0"/>
              <a:cs typeface="Times New Roman" panose="02020603050405020304" pitchFamily="18" charset="0"/>
            </a:endParaRPr>
          </a:p>
        </p:txBody>
      </p:sp>
      <p:grpSp>
        <p:nvGrpSpPr>
          <p:cNvPr id="13" name="Group 12">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14" name="Freeform: Shape 13">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A9A10282-1582-F36D-CBE1-3DCCFE73C445}"/>
              </a:ext>
            </a:extLst>
          </p:cNvPr>
          <p:cNvSpPr>
            <a:spLocks noGrp="1"/>
          </p:cNvSpPr>
          <p:nvPr>
            <p:ph idx="1"/>
          </p:nvPr>
        </p:nvSpPr>
        <p:spPr>
          <a:xfrm>
            <a:off x="804672" y="2827419"/>
            <a:ext cx="5126896" cy="2875745"/>
          </a:xfrm>
        </p:spPr>
        <p:txBody>
          <a:bodyPr vert="horz" lIns="91440" tIns="45720" rIns="91440" bIns="45720" rtlCol="0" anchor="ctr">
            <a:normAutofit/>
          </a:bodyPr>
          <a:lstStyle/>
          <a:p>
            <a:pPr marL="0" indent="0">
              <a:buNone/>
            </a:pPr>
            <a:r>
              <a:rPr lang="en-GB" sz="1800" b="1" dirty="0">
                <a:solidFill>
                  <a:schemeClr val="tx2"/>
                </a:solidFill>
              </a:rPr>
              <a:t>Box Plot (QC)</a:t>
            </a:r>
            <a:endParaRPr lang="en-GB" sz="1800" dirty="0">
              <a:solidFill>
                <a:schemeClr val="tx2"/>
              </a:solidFill>
            </a:endParaRPr>
          </a:p>
          <a:p>
            <a:r>
              <a:rPr lang="en-GB" sz="1800" dirty="0">
                <a:solidFill>
                  <a:schemeClr val="tx2"/>
                </a:solidFill>
                <a:ea typeface="+mn-lt"/>
                <a:cs typeface="+mn-lt"/>
              </a:rPr>
              <a:t>Confirms successful normalization of samples</a:t>
            </a:r>
            <a:endParaRPr lang="en-GB" sz="1800" dirty="0">
              <a:solidFill>
                <a:schemeClr val="tx2"/>
              </a:solidFill>
            </a:endParaRPr>
          </a:p>
          <a:p>
            <a:r>
              <a:rPr lang="en-GB" sz="1800" dirty="0">
                <a:solidFill>
                  <a:schemeClr val="tx2"/>
                </a:solidFill>
                <a:ea typeface="+mn-lt"/>
                <a:cs typeface="+mn-lt"/>
              </a:rPr>
              <a:t>Comparable distribution across </a:t>
            </a:r>
            <a:r>
              <a:rPr lang="en-GB" sz="1800" dirty="0" err="1">
                <a:solidFill>
                  <a:schemeClr val="tx2"/>
                </a:solidFill>
                <a:ea typeface="+mn-lt"/>
                <a:cs typeface="+mn-lt"/>
              </a:rPr>
              <a:t>tumor</a:t>
            </a:r>
            <a:r>
              <a:rPr lang="en-GB" sz="1800" dirty="0">
                <a:solidFill>
                  <a:schemeClr val="tx2"/>
                </a:solidFill>
                <a:ea typeface="+mn-lt"/>
                <a:cs typeface="+mn-lt"/>
              </a:rPr>
              <a:t> and normal groups</a:t>
            </a:r>
            <a:endParaRPr lang="en-GB" sz="1800" dirty="0">
              <a:solidFill>
                <a:schemeClr val="tx2"/>
              </a:solidFill>
            </a:endParaRPr>
          </a:p>
          <a:p>
            <a:endParaRPr lang="en-GB" sz="1800" dirty="0">
              <a:solidFill>
                <a:schemeClr val="tx2"/>
              </a:solidFill>
            </a:endParaRPr>
          </a:p>
        </p:txBody>
      </p:sp>
      <p:grpSp>
        <p:nvGrpSpPr>
          <p:cNvPr id="19" name="Group 18">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20" name="Freeform: Shape 19">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3" name="Freeform: Shape 22">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Picture 3">
            <a:extLst>
              <a:ext uri="{FF2B5EF4-FFF2-40B4-BE49-F238E27FC236}">
                <a16:creationId xmlns:a16="http://schemas.microsoft.com/office/drawing/2014/main" id="{068A293E-A57B-03B4-06FC-00B6C1DC30EC}"/>
              </a:ext>
            </a:extLst>
          </p:cNvPr>
          <p:cNvPicPr>
            <a:picLocks noChangeAspect="1"/>
          </p:cNvPicPr>
          <p:nvPr/>
        </p:nvPicPr>
        <p:blipFill>
          <a:blip r:embed="rId2"/>
          <a:stretch>
            <a:fillRect/>
          </a:stretch>
        </p:blipFill>
        <p:spPr>
          <a:xfrm>
            <a:off x="5931568" y="2999231"/>
            <a:ext cx="6101936" cy="2597345"/>
          </a:xfrm>
          <a:prstGeom prst="rect">
            <a:avLst/>
          </a:prstGeom>
        </p:spPr>
      </p:pic>
      <p:sp>
        <p:nvSpPr>
          <p:cNvPr id="6" name="Slide Number Placeholder 5">
            <a:extLst>
              <a:ext uri="{FF2B5EF4-FFF2-40B4-BE49-F238E27FC236}">
                <a16:creationId xmlns:a16="http://schemas.microsoft.com/office/drawing/2014/main" id="{1979E0E0-F681-A0D3-B458-AC0BEA3CD04E}"/>
              </a:ext>
            </a:extLst>
          </p:cNvPr>
          <p:cNvSpPr>
            <a:spLocks noGrp="1"/>
          </p:cNvSpPr>
          <p:nvPr>
            <p:ph type="sldNum" sz="quarter" idx="12"/>
          </p:nvPr>
        </p:nvSpPr>
        <p:spPr/>
        <p:txBody>
          <a:bodyPr/>
          <a:lstStyle/>
          <a:p>
            <a:fld id="{330EA680-D336-4FF7-8B7A-9848BB0A1C32}" type="slidenum">
              <a:rPr lang="en-GB" smtClean="0"/>
              <a:t>8</a:t>
            </a:fld>
            <a:endParaRPr lang="en-GB"/>
          </a:p>
        </p:txBody>
      </p:sp>
    </p:spTree>
    <p:extLst>
      <p:ext uri="{BB962C8B-B14F-4D97-AF65-F5344CB8AC3E}">
        <p14:creationId xmlns:p14="http://schemas.microsoft.com/office/powerpoint/2010/main" val="781667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3F0091-7069-54A5-6AE6-3AE10B3BF1DC}"/>
              </a:ext>
            </a:extLst>
          </p:cNvPr>
          <p:cNvSpPr>
            <a:spLocks noGrp="1"/>
          </p:cNvSpPr>
          <p:nvPr>
            <p:ph type="title"/>
          </p:nvPr>
        </p:nvSpPr>
        <p:spPr>
          <a:xfrm>
            <a:off x="804672" y="802955"/>
            <a:ext cx="4766330" cy="1454051"/>
          </a:xfrm>
        </p:spPr>
        <p:txBody>
          <a:bodyPr vert="horz" lIns="91440" tIns="45720" rIns="91440" bIns="45720" rtlCol="0" anchor="ctr">
            <a:normAutofit/>
          </a:bodyPr>
          <a:lstStyle/>
          <a:p>
            <a:r>
              <a:rPr lang="en-US" sz="3600" kern="1200" dirty="0">
                <a:solidFill>
                  <a:schemeClr val="tx2"/>
                </a:solidFill>
                <a:latin typeface="+mj-lt"/>
                <a:ea typeface="+mj-ea"/>
                <a:cs typeface="+mj-cs"/>
              </a:rPr>
              <a:t>UMAP Plot </a:t>
            </a:r>
          </a:p>
        </p:txBody>
      </p:sp>
      <p:sp>
        <p:nvSpPr>
          <p:cNvPr id="6" name="TextBox 5">
            <a:extLst>
              <a:ext uri="{FF2B5EF4-FFF2-40B4-BE49-F238E27FC236}">
                <a16:creationId xmlns:a16="http://schemas.microsoft.com/office/drawing/2014/main" id="{C8517448-F5CB-7410-BDBC-F5C91BD4ABAF}"/>
              </a:ext>
            </a:extLst>
          </p:cNvPr>
          <p:cNvSpPr txBox="1"/>
          <p:nvPr/>
        </p:nvSpPr>
        <p:spPr>
          <a:xfrm>
            <a:off x="804672" y="2421683"/>
            <a:ext cx="4765949" cy="335347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a:solidFill>
                  <a:schemeClr val="tx2"/>
                </a:solidFill>
              </a:rPr>
              <a:t>“This UMAP shows that tumors cluster separately from normals, which confirms that our dataset can distinguish disease vs healthy samples.”</a:t>
            </a:r>
          </a:p>
        </p:txBody>
      </p:sp>
      <p:grpSp>
        <p:nvGrpSpPr>
          <p:cNvPr id="15" name="Group 14">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6" name="Freeform: Shape 15">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Content Placeholder 4" descr="A diagram of a number of dots&#10;&#10;AI-generated content may be incorrect.">
            <a:extLst>
              <a:ext uri="{FF2B5EF4-FFF2-40B4-BE49-F238E27FC236}">
                <a16:creationId xmlns:a16="http://schemas.microsoft.com/office/drawing/2014/main" id="{89639851-C90E-3F3C-AB90-3AF3C10C8BDC}"/>
              </a:ext>
            </a:extLst>
          </p:cNvPr>
          <p:cNvPicPr>
            <a:picLocks noGrp="1" noChangeAspect="1"/>
          </p:cNvPicPr>
          <p:nvPr>
            <p:ph idx="1"/>
          </p:nvPr>
        </p:nvPicPr>
        <p:blipFill>
          <a:blip r:embed="rId2"/>
          <a:stretch>
            <a:fillRect/>
          </a:stretch>
        </p:blipFill>
        <p:spPr>
          <a:xfrm>
            <a:off x="7708392" y="2196223"/>
            <a:ext cx="4142232" cy="3389098"/>
          </a:xfrm>
          <a:prstGeom prst="rect">
            <a:avLst/>
          </a:prstGeom>
        </p:spPr>
      </p:pic>
      <p:sp>
        <p:nvSpPr>
          <p:cNvPr id="4" name="Slide Number Placeholder 3">
            <a:extLst>
              <a:ext uri="{FF2B5EF4-FFF2-40B4-BE49-F238E27FC236}">
                <a16:creationId xmlns:a16="http://schemas.microsoft.com/office/drawing/2014/main" id="{790D4EF9-6681-E14D-7C45-0918F2497CDA}"/>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330EA680-D336-4FF7-8B7A-9848BB0A1C32}" type="slidenum">
              <a:rPr lang="en-US" smtClean="0">
                <a:solidFill>
                  <a:schemeClr val="tx1">
                    <a:tint val="75000"/>
                  </a:schemeClr>
                </a:solidFill>
              </a:rPr>
              <a:pPr>
                <a:spcAft>
                  <a:spcPts val="600"/>
                </a:spcAft>
              </a:pPr>
              <a:t>9</a:t>
            </a:fld>
            <a:endParaRPr lang="en-US">
              <a:solidFill>
                <a:schemeClr val="tx1">
                  <a:tint val="75000"/>
                </a:schemeClr>
              </a:solidFill>
            </a:endParaRPr>
          </a:p>
        </p:txBody>
      </p:sp>
    </p:spTree>
    <p:extLst>
      <p:ext uri="{BB962C8B-B14F-4D97-AF65-F5344CB8AC3E}">
        <p14:creationId xmlns:p14="http://schemas.microsoft.com/office/powerpoint/2010/main" val="670103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A90E6A-48B2-5673-AD34-65910125210A}"/>
              </a:ext>
            </a:extLst>
          </p:cNvPr>
          <p:cNvSpPr>
            <a:spLocks noGrp="1"/>
          </p:cNvSpPr>
          <p:nvPr>
            <p:ph idx="1"/>
          </p:nvPr>
        </p:nvSpPr>
        <p:spPr>
          <a:xfrm>
            <a:off x="804672" y="2421683"/>
            <a:ext cx="4765949" cy="3353476"/>
          </a:xfrm>
        </p:spPr>
        <p:txBody>
          <a:bodyPr vert="horz" lIns="91440" tIns="45720" rIns="91440" bIns="45720" rtlCol="0" anchor="t">
            <a:normAutofit/>
          </a:bodyPr>
          <a:lstStyle/>
          <a:p>
            <a:endParaRPr lang="en-GB" sz="1800" dirty="0">
              <a:solidFill>
                <a:schemeClr val="tx2"/>
              </a:solidFill>
            </a:endParaRPr>
          </a:p>
          <a:p>
            <a:endParaRPr lang="en-GB" sz="1800">
              <a:solidFill>
                <a:schemeClr val="tx2"/>
              </a:solidFill>
            </a:endParaRPr>
          </a:p>
        </p:txBody>
      </p:sp>
      <p:grpSp>
        <p:nvGrpSpPr>
          <p:cNvPr id="25" name="Group 24">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26" name="Freeform: Shape 25">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 name="Table 4">
            <a:extLst>
              <a:ext uri="{FF2B5EF4-FFF2-40B4-BE49-F238E27FC236}">
                <a16:creationId xmlns:a16="http://schemas.microsoft.com/office/drawing/2014/main" id="{147ED3B6-FB89-1AAD-D607-FF88DF04B6F1}"/>
              </a:ext>
            </a:extLst>
          </p:cNvPr>
          <p:cNvGraphicFramePr>
            <a:graphicFrameLocks noGrp="1"/>
          </p:cNvGraphicFramePr>
          <p:nvPr>
            <p:extLst>
              <p:ext uri="{D42A27DB-BD31-4B8C-83A1-F6EECF244321}">
                <p14:modId xmlns:p14="http://schemas.microsoft.com/office/powerpoint/2010/main" val="1469020708"/>
              </p:ext>
            </p:extLst>
          </p:nvPr>
        </p:nvGraphicFramePr>
        <p:xfrm>
          <a:off x="1092679" y="2142226"/>
          <a:ext cx="9548381" cy="2185345"/>
        </p:xfrm>
        <a:graphic>
          <a:graphicData uri="http://schemas.openxmlformats.org/drawingml/2006/table">
            <a:tbl>
              <a:tblPr firstRow="1" bandRow="1">
                <a:tableStyleId>{5C22544A-7EE6-4342-B048-85BDC9FD1C3A}</a:tableStyleId>
              </a:tblPr>
              <a:tblGrid>
                <a:gridCol w="2443683">
                  <a:extLst>
                    <a:ext uri="{9D8B030D-6E8A-4147-A177-3AD203B41FA5}">
                      <a16:colId xmlns:a16="http://schemas.microsoft.com/office/drawing/2014/main" val="3461533887"/>
                    </a:ext>
                  </a:extLst>
                </a:gridCol>
                <a:gridCol w="2827673">
                  <a:extLst>
                    <a:ext uri="{9D8B030D-6E8A-4147-A177-3AD203B41FA5}">
                      <a16:colId xmlns:a16="http://schemas.microsoft.com/office/drawing/2014/main" val="3825584784"/>
                    </a:ext>
                  </a:extLst>
                </a:gridCol>
                <a:gridCol w="4277025">
                  <a:extLst>
                    <a:ext uri="{9D8B030D-6E8A-4147-A177-3AD203B41FA5}">
                      <a16:colId xmlns:a16="http://schemas.microsoft.com/office/drawing/2014/main" val="593526390"/>
                    </a:ext>
                  </a:extLst>
                </a:gridCol>
              </a:tblGrid>
              <a:tr h="923003">
                <a:tc>
                  <a:txBody>
                    <a:bodyPr/>
                    <a:lstStyle/>
                    <a:p>
                      <a:pPr lvl="0" algn="ctr">
                        <a:buNone/>
                      </a:pPr>
                      <a:r>
                        <a:rPr lang="en-US" sz="1700" b="1" i="0" u="none" strike="noStrike" noProof="0" dirty="0">
                          <a:solidFill>
                            <a:srgbClr val="FFFFFF"/>
                          </a:solidFill>
                          <a:latin typeface="Times New Roman" panose="02020603050405020304" pitchFamily="18" charset="0"/>
                          <a:cs typeface="Times New Roman" panose="02020603050405020304" pitchFamily="18" charset="0"/>
                        </a:rPr>
                        <a:t>Dataset</a:t>
                      </a:r>
                      <a:endParaRPr lang="en-US" sz="1400" b="1" dirty="0">
                        <a:latin typeface="Times New Roman" panose="02020603050405020304" pitchFamily="18" charset="0"/>
                        <a:cs typeface="Times New Roman" panose="02020603050405020304" pitchFamily="18" charset="0"/>
                      </a:endParaRPr>
                    </a:p>
                  </a:txBody>
                  <a:tcPr marL="72143" marR="72143" marT="36072" marB="36072"/>
                </a:tc>
                <a:tc>
                  <a:txBody>
                    <a:bodyPr/>
                    <a:lstStyle/>
                    <a:p>
                      <a:pPr lvl="0" algn="ctr">
                        <a:buNone/>
                      </a:pPr>
                      <a:r>
                        <a:rPr lang="en-GB" sz="1700" b="1" i="0" u="none" strike="noStrike" noProof="0" dirty="0">
                          <a:solidFill>
                            <a:srgbClr val="FFFFFF"/>
                          </a:solidFill>
                          <a:latin typeface="Times New Roman" panose="02020603050405020304" pitchFamily="18" charset="0"/>
                          <a:cs typeface="Times New Roman" panose="02020603050405020304" pitchFamily="18" charset="0"/>
                        </a:rPr>
                        <a:t>Threshold</a:t>
                      </a:r>
                      <a:endParaRPr lang="en-US" sz="1400" b="1" dirty="0">
                        <a:latin typeface="Times New Roman" panose="02020603050405020304" pitchFamily="18" charset="0"/>
                        <a:cs typeface="Times New Roman" panose="02020603050405020304" pitchFamily="18" charset="0"/>
                      </a:endParaRPr>
                    </a:p>
                  </a:txBody>
                  <a:tcPr marL="72143" marR="72143" marT="36072" marB="36072"/>
                </a:tc>
                <a:tc>
                  <a:txBody>
                    <a:bodyPr/>
                    <a:lstStyle/>
                    <a:p>
                      <a:pPr lvl="0">
                        <a:buNone/>
                      </a:pPr>
                      <a:r>
                        <a:rPr lang="en-US" sz="1700" b="1" i="0" u="none" strike="noStrike" noProof="0">
                          <a:solidFill>
                            <a:srgbClr val="FFFFFF"/>
                          </a:solidFill>
                          <a:latin typeface="Times New Roman" panose="02020603050405020304" pitchFamily="18" charset="0"/>
                          <a:cs typeface="Times New Roman" panose="02020603050405020304" pitchFamily="18" charset="0"/>
                        </a:rPr>
                        <a:t>Total no. of Differentially Expressed Genes</a:t>
                      </a:r>
                      <a:endParaRPr lang="en-US" sz="1400" b="1">
                        <a:latin typeface="Times New Roman" panose="02020603050405020304" pitchFamily="18" charset="0"/>
                        <a:cs typeface="Times New Roman" panose="02020603050405020304" pitchFamily="18" charset="0"/>
                      </a:endParaRPr>
                    </a:p>
                  </a:txBody>
                  <a:tcPr marL="72143" marR="72143" marT="36072" marB="36072"/>
                </a:tc>
                <a:extLst>
                  <a:ext uri="{0D108BD9-81ED-4DB2-BD59-A6C34878D82A}">
                    <a16:rowId xmlns:a16="http://schemas.microsoft.com/office/drawing/2014/main" val="490354585"/>
                  </a:ext>
                </a:extLst>
              </a:tr>
              <a:tr h="1262342">
                <a:tc>
                  <a:txBody>
                    <a:bodyPr/>
                    <a:lstStyle/>
                    <a:p>
                      <a:pPr lvl="0" algn="ctr">
                        <a:buNone/>
                      </a:pPr>
                      <a:r>
                        <a:rPr lang="en-GB" sz="1400" b="1" i="0" u="none" strike="noStrike" noProof="0" dirty="0">
                          <a:latin typeface="Times New Roman" panose="02020603050405020304" pitchFamily="18" charset="0"/>
                          <a:cs typeface="Times New Roman" panose="02020603050405020304" pitchFamily="18" charset="0"/>
                        </a:rPr>
                        <a:t>GSE15852</a:t>
                      </a:r>
                      <a:endParaRPr lang="en-US" sz="1400" b="1" dirty="0">
                        <a:latin typeface="Times New Roman" panose="02020603050405020304" pitchFamily="18" charset="0"/>
                        <a:cs typeface="Times New Roman" panose="02020603050405020304" pitchFamily="18" charset="0"/>
                      </a:endParaRPr>
                    </a:p>
                  </a:txBody>
                  <a:tcPr marL="72143" marR="72143" marT="36072" marB="36072"/>
                </a:tc>
                <a:tc>
                  <a:txBody>
                    <a:bodyPr/>
                    <a:lstStyle/>
                    <a:p>
                      <a:pPr lvl="0" algn="ctr">
                        <a:buNone/>
                      </a:pPr>
                      <a:r>
                        <a:rPr lang="en-US" sz="1700" b="1" i="0" u="none" strike="noStrike" noProof="0" dirty="0">
                          <a:solidFill>
                            <a:srgbClr val="000000"/>
                          </a:solidFill>
                          <a:latin typeface="Times New Roman" panose="02020603050405020304" pitchFamily="18" charset="0"/>
                          <a:cs typeface="Times New Roman" panose="02020603050405020304" pitchFamily="18" charset="0"/>
                        </a:rPr>
                        <a:t>p value &lt; 0.05</a:t>
                      </a:r>
                    </a:p>
                    <a:p>
                      <a:pPr lvl="0" algn="ctr">
                        <a:buNone/>
                      </a:pPr>
                      <a:r>
                        <a:rPr lang="en-US" sz="1700" b="1" i="0" u="none" strike="noStrike" noProof="0" dirty="0">
                          <a:solidFill>
                            <a:srgbClr val="000000"/>
                          </a:solidFill>
                          <a:latin typeface="Times New Roman" panose="02020603050405020304" pitchFamily="18" charset="0"/>
                          <a:cs typeface="Times New Roman" panose="02020603050405020304" pitchFamily="18" charset="0"/>
                        </a:rPr>
                        <a:t>FC &lt; -1 | FC &gt; 1</a:t>
                      </a:r>
                      <a:endParaRPr lang="en-GB" sz="1400" b="1" dirty="0">
                        <a:latin typeface="Times New Roman" panose="02020603050405020304" pitchFamily="18" charset="0"/>
                        <a:cs typeface="Times New Roman" panose="02020603050405020304" pitchFamily="18" charset="0"/>
                      </a:endParaRPr>
                    </a:p>
                  </a:txBody>
                  <a:tcPr marL="72143" marR="72143" marT="36072" marB="36072"/>
                </a:tc>
                <a:tc>
                  <a:txBody>
                    <a:bodyPr/>
                    <a:lstStyle/>
                    <a:p>
                      <a:pPr lvl="0" algn="ctr">
                        <a:buNone/>
                      </a:pPr>
                      <a:r>
                        <a:rPr lang="en-GB" sz="1400" b="1" i="0" u="none" strike="noStrike" noProof="0" dirty="0">
                          <a:latin typeface="Times New Roman" panose="02020603050405020304" pitchFamily="18" charset="0"/>
                          <a:cs typeface="Times New Roman" panose="02020603050405020304" pitchFamily="18" charset="0"/>
                        </a:rPr>
                        <a:t>22,283 </a:t>
                      </a:r>
                      <a:endParaRPr lang="en-US" sz="1400" b="1" dirty="0">
                        <a:latin typeface="Times New Roman" panose="02020603050405020304" pitchFamily="18" charset="0"/>
                        <a:cs typeface="Times New Roman" panose="02020603050405020304" pitchFamily="18" charset="0"/>
                      </a:endParaRPr>
                    </a:p>
                  </a:txBody>
                  <a:tcPr marL="72143" marR="72143" marT="36072" marB="36072"/>
                </a:tc>
                <a:extLst>
                  <a:ext uri="{0D108BD9-81ED-4DB2-BD59-A6C34878D82A}">
                    <a16:rowId xmlns:a16="http://schemas.microsoft.com/office/drawing/2014/main" val="2210506237"/>
                  </a:ext>
                </a:extLst>
              </a:tr>
            </a:tbl>
          </a:graphicData>
        </a:graphic>
      </p:graphicFrame>
      <p:sp>
        <p:nvSpPr>
          <p:cNvPr id="4" name="Slide Number Placeholder 3">
            <a:extLst>
              <a:ext uri="{FF2B5EF4-FFF2-40B4-BE49-F238E27FC236}">
                <a16:creationId xmlns:a16="http://schemas.microsoft.com/office/drawing/2014/main" id="{39B8148B-9207-722D-1B54-C48BBAB3578E}"/>
              </a:ext>
            </a:extLst>
          </p:cNvPr>
          <p:cNvSpPr>
            <a:spLocks noGrp="1"/>
          </p:cNvSpPr>
          <p:nvPr>
            <p:ph type="sldNum" sz="quarter" idx="12"/>
          </p:nvPr>
        </p:nvSpPr>
        <p:spPr/>
        <p:txBody>
          <a:bodyPr/>
          <a:lstStyle/>
          <a:p>
            <a:fld id="{330EA680-D336-4FF7-8B7A-9848BB0A1C32}" type="slidenum">
              <a:rPr lang="en-GB" smtClean="0"/>
              <a:t>10</a:t>
            </a:fld>
            <a:endParaRPr lang="en-GB"/>
          </a:p>
        </p:txBody>
      </p:sp>
    </p:spTree>
    <p:extLst>
      <p:ext uri="{BB962C8B-B14F-4D97-AF65-F5344CB8AC3E}">
        <p14:creationId xmlns:p14="http://schemas.microsoft.com/office/powerpoint/2010/main" val="3134142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79EB3A-0F13-C958-31A1-EAF7DB03B45C}"/>
              </a:ext>
            </a:extLst>
          </p:cNvPr>
          <p:cNvSpPr>
            <a:spLocks noGrp="1"/>
          </p:cNvSpPr>
          <p:nvPr>
            <p:ph type="title"/>
          </p:nvPr>
        </p:nvSpPr>
        <p:spPr>
          <a:xfrm>
            <a:off x="804672" y="802955"/>
            <a:ext cx="4766330" cy="1454051"/>
          </a:xfrm>
        </p:spPr>
        <p:txBody>
          <a:bodyPr>
            <a:normAutofit/>
          </a:bodyPr>
          <a:lstStyle/>
          <a:p>
            <a:pPr>
              <a:spcBef>
                <a:spcPts val="1000"/>
              </a:spcBef>
            </a:pPr>
            <a:r>
              <a:rPr lang="en-GB" sz="3600" b="1" dirty="0">
                <a:solidFill>
                  <a:schemeClr val="tx2"/>
                </a:solidFill>
                <a:latin typeface="Times New Roman" panose="02020603050405020304" pitchFamily="18" charset="0"/>
                <a:cs typeface="Times New Roman" panose="02020603050405020304" pitchFamily="18" charset="0"/>
              </a:rPr>
              <a:t>Volcano Plot</a:t>
            </a:r>
            <a:endParaRPr lang="en-GB" sz="3600" dirty="0">
              <a:solidFill>
                <a:schemeClr val="tx2"/>
              </a:solidFill>
              <a:latin typeface="Times New Roman" panose="02020603050405020304" pitchFamily="18" charset="0"/>
              <a:cs typeface="Times New Roman" panose="02020603050405020304" pitchFamily="18" charset="0"/>
            </a:endParaRPr>
          </a:p>
          <a:p>
            <a:endParaRPr lang="en-GB" sz="3600" dirty="0">
              <a:solidFill>
                <a:schemeClr val="tx2"/>
              </a:solidFill>
            </a:endParaRPr>
          </a:p>
        </p:txBody>
      </p:sp>
      <p:sp>
        <p:nvSpPr>
          <p:cNvPr id="3" name="Content Placeholder 2">
            <a:extLst>
              <a:ext uri="{FF2B5EF4-FFF2-40B4-BE49-F238E27FC236}">
                <a16:creationId xmlns:a16="http://schemas.microsoft.com/office/drawing/2014/main" id="{7CAD12CF-C329-1B9A-2253-E5B61A30042D}"/>
              </a:ext>
            </a:extLst>
          </p:cNvPr>
          <p:cNvSpPr>
            <a:spLocks noGrp="1"/>
          </p:cNvSpPr>
          <p:nvPr>
            <p:ph idx="1"/>
          </p:nvPr>
        </p:nvSpPr>
        <p:spPr>
          <a:xfrm>
            <a:off x="804672" y="2421683"/>
            <a:ext cx="4765949" cy="1555957"/>
          </a:xfrm>
        </p:spPr>
        <p:txBody>
          <a:bodyPr vert="horz" lIns="91440" tIns="45720" rIns="91440" bIns="45720" rtlCol="0" anchor="t">
            <a:normAutofit/>
          </a:bodyPr>
          <a:lstStyle/>
          <a:p>
            <a:r>
              <a:rPr lang="en-GB" sz="2000" dirty="0">
                <a:solidFill>
                  <a:schemeClr val="tx2"/>
                </a:solidFill>
                <a:latin typeface="Times New Roman" panose="02020603050405020304" pitchFamily="18" charset="0"/>
                <a:ea typeface="+mn-lt"/>
                <a:cs typeface="Times New Roman" panose="02020603050405020304" pitchFamily="18" charset="0"/>
              </a:rPr>
              <a:t>Visualizes significant DEGs</a:t>
            </a:r>
            <a:endParaRPr lang="en-GB" sz="2000" dirty="0">
              <a:solidFill>
                <a:schemeClr val="tx2"/>
              </a:solidFill>
              <a:latin typeface="Times New Roman" panose="02020603050405020304" pitchFamily="18" charset="0"/>
              <a:cs typeface="Times New Roman" panose="02020603050405020304" pitchFamily="18" charset="0"/>
            </a:endParaRPr>
          </a:p>
          <a:p>
            <a:r>
              <a:rPr lang="en-GB" sz="2000" dirty="0">
                <a:solidFill>
                  <a:schemeClr val="tx2"/>
                </a:solidFill>
                <a:latin typeface="Times New Roman" panose="02020603050405020304" pitchFamily="18" charset="0"/>
                <a:ea typeface="+mn-lt"/>
                <a:cs typeface="Times New Roman" panose="02020603050405020304" pitchFamily="18" charset="0"/>
              </a:rPr>
              <a:t>Red = upregulated, Blue = downregulated</a:t>
            </a:r>
            <a:endParaRPr lang="en-GB" sz="2000" dirty="0">
              <a:solidFill>
                <a:schemeClr val="tx2"/>
              </a:solidFill>
              <a:latin typeface="Times New Roman" panose="02020603050405020304" pitchFamily="18" charset="0"/>
              <a:cs typeface="Times New Roman" panose="02020603050405020304" pitchFamily="18" charset="0"/>
            </a:endParaRPr>
          </a:p>
          <a:p>
            <a:endParaRPr lang="en-GB" sz="1800" dirty="0">
              <a:solidFill>
                <a:schemeClr val="tx2"/>
              </a:solidFill>
            </a:endParaRPr>
          </a:p>
        </p:txBody>
      </p:sp>
      <p:grpSp>
        <p:nvGrpSpPr>
          <p:cNvPr id="13" name="Group 12">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4" name="Freeform: Shape 13">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descr="A graph of red blue and black dots&#10;&#10;AI-generated content may be incorrect.">
            <a:extLst>
              <a:ext uri="{FF2B5EF4-FFF2-40B4-BE49-F238E27FC236}">
                <a16:creationId xmlns:a16="http://schemas.microsoft.com/office/drawing/2014/main" id="{EBB45458-EA1E-FF8F-3758-106377FE36F5}"/>
              </a:ext>
            </a:extLst>
          </p:cNvPr>
          <p:cNvPicPr>
            <a:picLocks noChangeAspect="1"/>
          </p:cNvPicPr>
          <p:nvPr/>
        </p:nvPicPr>
        <p:blipFill>
          <a:blip r:embed="rId2"/>
          <a:stretch>
            <a:fillRect/>
          </a:stretch>
        </p:blipFill>
        <p:spPr>
          <a:xfrm>
            <a:off x="7196329" y="2421683"/>
            <a:ext cx="4888708" cy="2884338"/>
          </a:xfrm>
          <a:prstGeom prst="rect">
            <a:avLst/>
          </a:prstGeom>
        </p:spPr>
      </p:pic>
      <p:sp>
        <p:nvSpPr>
          <p:cNvPr id="6" name="Slide Number Placeholder 5">
            <a:extLst>
              <a:ext uri="{FF2B5EF4-FFF2-40B4-BE49-F238E27FC236}">
                <a16:creationId xmlns:a16="http://schemas.microsoft.com/office/drawing/2014/main" id="{36F1B188-684B-E2A5-1004-69CED419F4EE}"/>
              </a:ext>
            </a:extLst>
          </p:cNvPr>
          <p:cNvSpPr>
            <a:spLocks noGrp="1"/>
          </p:cNvSpPr>
          <p:nvPr>
            <p:ph type="sldNum" sz="quarter" idx="12"/>
          </p:nvPr>
        </p:nvSpPr>
        <p:spPr/>
        <p:txBody>
          <a:bodyPr/>
          <a:lstStyle/>
          <a:p>
            <a:fld id="{330EA680-D336-4FF7-8B7A-9848BB0A1C32}" type="slidenum">
              <a:rPr lang="en-GB" smtClean="0"/>
              <a:t>11</a:t>
            </a:fld>
            <a:endParaRPr lang="en-GB"/>
          </a:p>
        </p:txBody>
      </p:sp>
    </p:spTree>
    <p:extLst>
      <p:ext uri="{BB962C8B-B14F-4D97-AF65-F5344CB8AC3E}">
        <p14:creationId xmlns:p14="http://schemas.microsoft.com/office/powerpoint/2010/main" val="1091815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6E3625-3618-E2DB-0BA6-4810AD6D77DE}"/>
              </a:ext>
            </a:extLst>
          </p:cNvPr>
          <p:cNvSpPr>
            <a:spLocks noGrp="1"/>
          </p:cNvSpPr>
          <p:nvPr>
            <p:ph type="title"/>
          </p:nvPr>
        </p:nvSpPr>
        <p:spPr>
          <a:xfrm>
            <a:off x="804672" y="802955"/>
            <a:ext cx="4766330" cy="1454051"/>
          </a:xfrm>
        </p:spPr>
        <p:txBody>
          <a:bodyPr>
            <a:normAutofit/>
          </a:bodyPr>
          <a:lstStyle/>
          <a:p>
            <a:r>
              <a:rPr lang="en-GB" sz="3600" b="1" dirty="0">
                <a:solidFill>
                  <a:schemeClr val="tx2"/>
                </a:solidFill>
                <a:latin typeface="Times New Roman" panose="02020603050405020304" pitchFamily="18" charset="0"/>
                <a:ea typeface="+mj-lt"/>
                <a:cs typeface="Times New Roman" panose="02020603050405020304" pitchFamily="18" charset="0"/>
              </a:rPr>
              <a:t>Voom Plot</a:t>
            </a:r>
            <a:endParaRPr lang="en-US" sz="3600" b="1" dirty="0">
              <a:solidFill>
                <a:schemeClr val="tx2"/>
              </a:solidFill>
              <a:latin typeface="Times New Roman" panose="02020603050405020304" pitchFamily="18" charset="0"/>
              <a:ea typeface="+mj-lt"/>
              <a:cs typeface="Times New Roman" panose="02020603050405020304" pitchFamily="18" charset="0"/>
            </a:endParaRPr>
          </a:p>
        </p:txBody>
      </p:sp>
      <p:sp>
        <p:nvSpPr>
          <p:cNvPr id="3" name="Content Placeholder 2">
            <a:extLst>
              <a:ext uri="{FF2B5EF4-FFF2-40B4-BE49-F238E27FC236}">
                <a16:creationId xmlns:a16="http://schemas.microsoft.com/office/drawing/2014/main" id="{81C8C5BE-66D6-4C32-D6B4-CB1691E04352}"/>
              </a:ext>
            </a:extLst>
          </p:cNvPr>
          <p:cNvSpPr>
            <a:spLocks noGrp="1"/>
          </p:cNvSpPr>
          <p:nvPr>
            <p:ph idx="1"/>
          </p:nvPr>
        </p:nvSpPr>
        <p:spPr>
          <a:xfrm>
            <a:off x="804672" y="2421683"/>
            <a:ext cx="4765949" cy="1546813"/>
          </a:xfrm>
        </p:spPr>
        <p:txBody>
          <a:bodyPr vert="horz" lIns="91440" tIns="45720" rIns="91440" bIns="45720" rtlCol="0" anchor="t">
            <a:normAutofit/>
          </a:bodyPr>
          <a:lstStyle/>
          <a:p>
            <a:r>
              <a:rPr lang="en-GB" sz="1800" dirty="0">
                <a:solidFill>
                  <a:schemeClr val="tx2"/>
                </a:solidFill>
                <a:latin typeface="Times New Roman" panose="02020603050405020304" pitchFamily="18" charset="0"/>
                <a:ea typeface="+mn-lt"/>
                <a:cs typeface="Times New Roman" panose="02020603050405020304" pitchFamily="18" charset="0"/>
              </a:rPr>
              <a:t>Displays mean–variance relationship</a:t>
            </a:r>
            <a:endParaRPr lang="en-GB" sz="1800" dirty="0">
              <a:solidFill>
                <a:schemeClr val="tx2"/>
              </a:solidFill>
              <a:latin typeface="Times New Roman" panose="02020603050405020304" pitchFamily="18" charset="0"/>
              <a:cs typeface="Times New Roman" panose="02020603050405020304" pitchFamily="18" charset="0"/>
            </a:endParaRPr>
          </a:p>
          <a:p>
            <a:r>
              <a:rPr lang="en-GB" sz="1800" dirty="0">
                <a:solidFill>
                  <a:schemeClr val="tx2"/>
                </a:solidFill>
                <a:latin typeface="Times New Roman" panose="02020603050405020304" pitchFamily="18" charset="0"/>
                <a:ea typeface="+mn-lt"/>
                <a:cs typeface="Times New Roman" panose="02020603050405020304" pitchFamily="18" charset="0"/>
              </a:rPr>
              <a:t>Confirms variance modelling suitability</a:t>
            </a:r>
            <a:endParaRPr lang="en-GB" sz="1800" dirty="0">
              <a:solidFill>
                <a:schemeClr val="tx2"/>
              </a:solidFill>
              <a:latin typeface="Times New Roman" panose="02020603050405020304" pitchFamily="18" charset="0"/>
              <a:cs typeface="Times New Roman" panose="02020603050405020304" pitchFamily="18" charset="0"/>
            </a:endParaRPr>
          </a:p>
          <a:p>
            <a:endParaRPr lang="en-GB" sz="1800" dirty="0">
              <a:solidFill>
                <a:schemeClr val="tx2"/>
              </a:solidFill>
            </a:endParaRPr>
          </a:p>
        </p:txBody>
      </p:sp>
      <p:grpSp>
        <p:nvGrpSpPr>
          <p:cNvPr id="13" name="Group 12">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4" name="Freeform: Shape 13">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descr="A graph with a red line&#10;&#10;AI-generated content may be incorrect.">
            <a:extLst>
              <a:ext uri="{FF2B5EF4-FFF2-40B4-BE49-F238E27FC236}">
                <a16:creationId xmlns:a16="http://schemas.microsoft.com/office/drawing/2014/main" id="{492169F1-D7EA-AA38-7EA2-0DCEA7503A41}"/>
              </a:ext>
            </a:extLst>
          </p:cNvPr>
          <p:cNvPicPr>
            <a:picLocks noChangeAspect="1"/>
          </p:cNvPicPr>
          <p:nvPr/>
        </p:nvPicPr>
        <p:blipFill>
          <a:blip r:embed="rId2"/>
          <a:stretch>
            <a:fillRect/>
          </a:stretch>
        </p:blipFill>
        <p:spPr>
          <a:xfrm>
            <a:off x="7498080" y="2390733"/>
            <a:ext cx="4352544" cy="2861797"/>
          </a:xfrm>
          <a:prstGeom prst="rect">
            <a:avLst/>
          </a:prstGeom>
        </p:spPr>
      </p:pic>
      <p:sp>
        <p:nvSpPr>
          <p:cNvPr id="6" name="Slide Number Placeholder 5">
            <a:extLst>
              <a:ext uri="{FF2B5EF4-FFF2-40B4-BE49-F238E27FC236}">
                <a16:creationId xmlns:a16="http://schemas.microsoft.com/office/drawing/2014/main" id="{FFD47457-531D-D89F-3295-30BCD3BB79F1}"/>
              </a:ext>
            </a:extLst>
          </p:cNvPr>
          <p:cNvSpPr>
            <a:spLocks noGrp="1"/>
          </p:cNvSpPr>
          <p:nvPr>
            <p:ph type="sldNum" sz="quarter" idx="12"/>
          </p:nvPr>
        </p:nvSpPr>
        <p:spPr/>
        <p:txBody>
          <a:bodyPr/>
          <a:lstStyle/>
          <a:p>
            <a:fld id="{330EA680-D336-4FF7-8B7A-9848BB0A1C32}" type="slidenum">
              <a:rPr lang="en-GB" smtClean="0"/>
              <a:t>12</a:t>
            </a:fld>
            <a:endParaRPr lang="en-GB"/>
          </a:p>
        </p:txBody>
      </p:sp>
    </p:spTree>
    <p:extLst>
      <p:ext uri="{BB962C8B-B14F-4D97-AF65-F5344CB8AC3E}">
        <p14:creationId xmlns:p14="http://schemas.microsoft.com/office/powerpoint/2010/main" val="2004333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9DE871-ECC0-8EF3-AFA4-4A65ED301469}"/>
              </a:ext>
            </a:extLst>
          </p:cNvPr>
          <p:cNvSpPr>
            <a:spLocks noGrp="1"/>
          </p:cNvSpPr>
          <p:nvPr>
            <p:ph type="title"/>
          </p:nvPr>
        </p:nvSpPr>
        <p:spPr>
          <a:xfrm>
            <a:off x="1993392" y="703021"/>
            <a:ext cx="8339327" cy="1454051"/>
          </a:xfrm>
        </p:spPr>
        <p:txBody>
          <a:bodyPr>
            <a:normAutofit/>
          </a:bodyPr>
          <a:lstStyle/>
          <a:p>
            <a:pPr algn="ctr"/>
            <a:r>
              <a:rPr lang="en-GB" sz="3600" b="1" dirty="0">
                <a:solidFill>
                  <a:schemeClr val="tx2"/>
                </a:solidFill>
                <a:latin typeface="Times New Roman" panose="02020603050405020304" pitchFamily="18" charset="0"/>
                <a:ea typeface="+mj-lt"/>
                <a:cs typeface="Times New Roman" panose="02020603050405020304" pitchFamily="18" charset="0"/>
              </a:rPr>
              <a:t>Pathway Enrichment Analysis </a:t>
            </a:r>
            <a:endParaRPr lang="en-US" sz="36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11" name="Content Placeholder 10">
            <a:extLst>
              <a:ext uri="{FF2B5EF4-FFF2-40B4-BE49-F238E27FC236}">
                <a16:creationId xmlns:a16="http://schemas.microsoft.com/office/drawing/2014/main" id="{9C67AC2E-8816-665D-FEA4-2F2CCD78D49A}"/>
              </a:ext>
            </a:extLst>
          </p:cNvPr>
          <p:cNvGraphicFramePr>
            <a:graphicFrameLocks noGrp="1"/>
          </p:cNvGraphicFramePr>
          <p:nvPr>
            <p:ph idx="1"/>
            <p:extLst>
              <p:ext uri="{D42A27DB-BD31-4B8C-83A1-F6EECF244321}">
                <p14:modId xmlns:p14="http://schemas.microsoft.com/office/powerpoint/2010/main" val="2387373179"/>
              </p:ext>
            </p:extLst>
          </p:nvPr>
        </p:nvGraphicFramePr>
        <p:xfrm>
          <a:off x="1222248" y="2713817"/>
          <a:ext cx="10515600" cy="148336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980025696"/>
                    </a:ext>
                  </a:extLst>
                </a:gridCol>
                <a:gridCol w="5257800">
                  <a:extLst>
                    <a:ext uri="{9D8B030D-6E8A-4147-A177-3AD203B41FA5}">
                      <a16:colId xmlns:a16="http://schemas.microsoft.com/office/drawing/2014/main" val="1923975426"/>
                    </a:ext>
                  </a:extLst>
                </a:gridCol>
              </a:tblGrid>
              <a:tr h="370840">
                <a:tc>
                  <a:txBody>
                    <a:bodyPr/>
                    <a:lstStyle/>
                    <a:p>
                      <a:r>
                        <a:rPr lang="en-GB" dirty="0">
                          <a:latin typeface="Times New Roman" panose="02020603050405020304" pitchFamily="18" charset="0"/>
                          <a:cs typeface="Times New Roman" panose="02020603050405020304" pitchFamily="18" charset="0"/>
                        </a:rPr>
                        <a:t>Term</a:t>
                      </a:r>
                    </a:p>
                  </a:txBody>
                  <a:tcPr/>
                </a:tc>
                <a:tc>
                  <a:txBody>
                    <a:bodyPr/>
                    <a:lstStyle/>
                    <a:p>
                      <a:r>
                        <a:rPr lang="en-GB" dirty="0">
                          <a:latin typeface="Times New Roman" panose="02020603050405020304" pitchFamily="18" charset="0"/>
                          <a:cs typeface="Times New Roman" panose="02020603050405020304" pitchFamily="18" charset="0"/>
                        </a:rPr>
                        <a:t>No of genes</a:t>
                      </a:r>
                    </a:p>
                  </a:txBody>
                  <a:tcPr/>
                </a:tc>
                <a:extLst>
                  <a:ext uri="{0D108BD9-81ED-4DB2-BD59-A6C34878D82A}">
                    <a16:rowId xmlns:a16="http://schemas.microsoft.com/office/drawing/2014/main" val="4071724371"/>
                  </a:ext>
                </a:extLst>
              </a:tr>
              <a:tr h="370840">
                <a:tc>
                  <a:txBody>
                    <a:bodyPr/>
                    <a:lstStyle/>
                    <a:p>
                      <a:r>
                        <a:rPr lang="en-GB" dirty="0">
                          <a:latin typeface="Times New Roman" panose="02020603050405020304" pitchFamily="18" charset="0"/>
                          <a:cs typeface="Times New Roman" panose="02020603050405020304" pitchFamily="18" charset="0"/>
                        </a:rPr>
                        <a:t>Pathways in cancer</a:t>
                      </a:r>
                    </a:p>
                  </a:txBody>
                  <a:tcPr/>
                </a:tc>
                <a:tc>
                  <a:txBody>
                    <a:bodyPr/>
                    <a:lstStyle/>
                    <a:p>
                      <a:r>
                        <a:rPr lang="en-GB" dirty="0">
                          <a:latin typeface="Times New Roman" panose="02020603050405020304" pitchFamily="18" charset="0"/>
                          <a:cs typeface="Times New Roman" panose="02020603050405020304" pitchFamily="18" charset="0"/>
                        </a:rPr>
                        <a:t>85</a:t>
                      </a:r>
                    </a:p>
                  </a:txBody>
                  <a:tcPr/>
                </a:tc>
                <a:extLst>
                  <a:ext uri="{0D108BD9-81ED-4DB2-BD59-A6C34878D82A}">
                    <a16:rowId xmlns:a16="http://schemas.microsoft.com/office/drawing/2014/main" val="3731249982"/>
                  </a:ext>
                </a:extLst>
              </a:tr>
              <a:tr h="370840">
                <a:tc>
                  <a:txBody>
                    <a:bodyPr/>
                    <a:lstStyle/>
                    <a:p>
                      <a:r>
                        <a:rPr lang="en-GB" dirty="0">
                          <a:latin typeface="Times New Roman" panose="02020603050405020304" pitchFamily="18" charset="0"/>
                          <a:cs typeface="Times New Roman" panose="02020603050405020304" pitchFamily="18" charset="0"/>
                        </a:rPr>
                        <a:t>Breast Cancer</a:t>
                      </a:r>
                    </a:p>
                  </a:txBody>
                  <a:tcPr/>
                </a:tc>
                <a:tc>
                  <a:txBody>
                    <a:bodyPr/>
                    <a:lstStyle/>
                    <a:p>
                      <a:r>
                        <a:rPr lang="en-GB" dirty="0">
                          <a:latin typeface="Times New Roman" panose="02020603050405020304" pitchFamily="18" charset="0"/>
                          <a:cs typeface="Times New Roman" panose="02020603050405020304" pitchFamily="18" charset="0"/>
                        </a:rPr>
                        <a:t>26</a:t>
                      </a:r>
                    </a:p>
                  </a:txBody>
                  <a:tcPr/>
                </a:tc>
                <a:extLst>
                  <a:ext uri="{0D108BD9-81ED-4DB2-BD59-A6C34878D82A}">
                    <a16:rowId xmlns:a16="http://schemas.microsoft.com/office/drawing/2014/main" val="2740594411"/>
                  </a:ext>
                </a:extLst>
              </a:tr>
              <a:tr h="370840">
                <a:tc>
                  <a:txBody>
                    <a:bodyPr/>
                    <a:lstStyle/>
                    <a:p>
                      <a:pPr lvl="0">
                        <a:buNone/>
                      </a:pPr>
                      <a:r>
                        <a:rPr lang="en-GB" sz="1800" b="0" i="0" u="none" strike="noStrike" noProof="0" dirty="0">
                          <a:solidFill>
                            <a:srgbClr val="000000"/>
                          </a:solidFill>
                          <a:latin typeface="Times New Roman" panose="02020603050405020304" pitchFamily="18" charset="0"/>
                          <a:cs typeface="Times New Roman" panose="02020603050405020304" pitchFamily="18" charset="0"/>
                        </a:rPr>
                        <a:t>Proteoglycans in cancer</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49</a:t>
                      </a:r>
                    </a:p>
                  </a:txBody>
                  <a:tcPr/>
                </a:tc>
                <a:extLst>
                  <a:ext uri="{0D108BD9-81ED-4DB2-BD59-A6C34878D82A}">
                    <a16:rowId xmlns:a16="http://schemas.microsoft.com/office/drawing/2014/main" val="4126315742"/>
                  </a:ext>
                </a:extLst>
              </a:tr>
            </a:tbl>
          </a:graphicData>
        </a:graphic>
      </p:graphicFrame>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Slide Number Placeholder 3">
            <a:extLst>
              <a:ext uri="{FF2B5EF4-FFF2-40B4-BE49-F238E27FC236}">
                <a16:creationId xmlns:a16="http://schemas.microsoft.com/office/drawing/2014/main" id="{6C58C423-6ABE-4838-40F4-203772FFB5E8}"/>
              </a:ext>
            </a:extLst>
          </p:cNvPr>
          <p:cNvSpPr>
            <a:spLocks noGrp="1"/>
          </p:cNvSpPr>
          <p:nvPr>
            <p:ph type="sldNum" sz="quarter" idx="12"/>
          </p:nvPr>
        </p:nvSpPr>
        <p:spPr/>
        <p:txBody>
          <a:bodyPr/>
          <a:lstStyle/>
          <a:p>
            <a:fld id="{330EA680-D336-4FF7-8B7A-9848BB0A1C32}" type="slidenum">
              <a:rPr lang="en-GB" smtClean="0"/>
              <a:t>13</a:t>
            </a:fld>
            <a:endParaRPr lang="en-GB"/>
          </a:p>
        </p:txBody>
      </p:sp>
    </p:spTree>
    <p:extLst>
      <p:ext uri="{BB962C8B-B14F-4D97-AF65-F5344CB8AC3E}">
        <p14:creationId xmlns:p14="http://schemas.microsoft.com/office/powerpoint/2010/main" val="1021971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9" name="Rectangle 68">
            <a:extLst>
              <a:ext uri="{FF2B5EF4-FFF2-40B4-BE49-F238E27FC236}">
                <a16:creationId xmlns:a16="http://schemas.microsoft.com/office/drawing/2014/main" id="{275D6C10-B5A7-4715-803E-0501C9C2C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C9E4FA-62B1-B65A-95BD-483F79DD87D2}"/>
              </a:ext>
            </a:extLst>
          </p:cNvPr>
          <p:cNvSpPr>
            <a:spLocks noGrp="1"/>
          </p:cNvSpPr>
          <p:nvPr>
            <p:ph type="title"/>
          </p:nvPr>
        </p:nvSpPr>
        <p:spPr>
          <a:xfrm>
            <a:off x="228600" y="2088481"/>
            <a:ext cx="6665976" cy="2081183"/>
          </a:xfrm>
        </p:spPr>
        <p:txBody>
          <a:bodyPr vert="horz" lIns="91440" tIns="45720" rIns="91440" bIns="45720" rtlCol="0" anchor="b">
            <a:normAutofit/>
          </a:bodyPr>
          <a:lstStyle/>
          <a:p>
            <a:r>
              <a:rPr lang="en-US" sz="3600" b="1" kern="1200" dirty="0">
                <a:solidFill>
                  <a:schemeClr val="tx1"/>
                </a:solidFill>
                <a:latin typeface="Times New Roman" panose="02020603050405020304" pitchFamily="18" charset="0"/>
                <a:cs typeface="Times New Roman" panose="02020603050405020304" pitchFamily="18" charset="0"/>
              </a:rPr>
              <a:t>Genes Enriched in the Breast Cancer Pathway in GSE15852</a:t>
            </a:r>
            <a:endParaRPr lang="en-US" sz="3600" kern="1200" dirty="0">
              <a:solidFill>
                <a:schemeClr val="tx1"/>
              </a:solidFill>
              <a:latin typeface="Times New Roman" panose="02020603050405020304" pitchFamily="18" charset="0"/>
              <a:cs typeface="Times New Roman" panose="02020603050405020304" pitchFamily="18" charset="0"/>
            </a:endParaRPr>
          </a:p>
        </p:txBody>
      </p:sp>
      <p:graphicFrame>
        <p:nvGraphicFramePr>
          <p:cNvPr id="7" name="Content Placeholder 6">
            <a:extLst>
              <a:ext uri="{FF2B5EF4-FFF2-40B4-BE49-F238E27FC236}">
                <a16:creationId xmlns:a16="http://schemas.microsoft.com/office/drawing/2014/main" id="{61C31E35-51F0-D939-B087-7F19B9107CFE}"/>
              </a:ext>
            </a:extLst>
          </p:cNvPr>
          <p:cNvGraphicFramePr>
            <a:graphicFrameLocks noGrp="1"/>
          </p:cNvGraphicFramePr>
          <p:nvPr>
            <p:ph idx="1"/>
            <p:extLst>
              <p:ext uri="{D42A27DB-BD31-4B8C-83A1-F6EECF244321}">
                <p14:modId xmlns:p14="http://schemas.microsoft.com/office/powerpoint/2010/main" val="3324954509"/>
              </p:ext>
            </p:extLst>
          </p:nvPr>
        </p:nvGraphicFramePr>
        <p:xfrm>
          <a:off x="6556248" y="590028"/>
          <a:ext cx="4356194" cy="5677944"/>
        </p:xfrm>
        <a:graphic>
          <a:graphicData uri="http://schemas.openxmlformats.org/drawingml/2006/table">
            <a:tbl>
              <a:tblPr firstRow="1" bandRow="1">
                <a:tableStyleId>{D7AC3CCA-C797-4891-BE02-D94E43425B78}</a:tableStyleId>
              </a:tblPr>
              <a:tblGrid>
                <a:gridCol w="1633934">
                  <a:extLst>
                    <a:ext uri="{9D8B030D-6E8A-4147-A177-3AD203B41FA5}">
                      <a16:colId xmlns:a16="http://schemas.microsoft.com/office/drawing/2014/main" val="3282733754"/>
                    </a:ext>
                  </a:extLst>
                </a:gridCol>
                <a:gridCol w="2722260">
                  <a:extLst>
                    <a:ext uri="{9D8B030D-6E8A-4147-A177-3AD203B41FA5}">
                      <a16:colId xmlns:a16="http://schemas.microsoft.com/office/drawing/2014/main" val="258067593"/>
                    </a:ext>
                  </a:extLst>
                </a:gridCol>
              </a:tblGrid>
              <a:tr h="877808">
                <a:tc>
                  <a:txBody>
                    <a:bodyPr/>
                    <a:lstStyle/>
                    <a:p>
                      <a:pPr lvl="0">
                        <a:buNone/>
                      </a:pPr>
                      <a:r>
                        <a:rPr lang="en-GB" sz="1600" b="1" u="none" strike="noStrike" noProof="0" dirty="0">
                          <a:solidFill>
                            <a:schemeClr val="tx1">
                              <a:lumMod val="75000"/>
                              <a:lumOff val="25000"/>
                            </a:schemeClr>
                          </a:solidFill>
                        </a:rPr>
                        <a:t>Genes</a:t>
                      </a:r>
                      <a:endParaRPr lang="en-US" sz="1600" b="1" dirty="0">
                        <a:solidFill>
                          <a:schemeClr val="tx1">
                            <a:lumMod val="75000"/>
                            <a:lumOff val="25000"/>
                          </a:schemeClr>
                        </a:solidFill>
                      </a:endParaRPr>
                    </a:p>
                  </a:txBody>
                  <a:tcPr marL="201160" marR="120696" marT="120696" marB="120696"/>
                </a:tc>
                <a:tc>
                  <a:txBody>
                    <a:bodyPr/>
                    <a:lstStyle/>
                    <a:p>
                      <a:pPr lvl="0" algn="l">
                        <a:lnSpc>
                          <a:spcPct val="100000"/>
                        </a:lnSpc>
                        <a:spcBef>
                          <a:spcPts val="0"/>
                        </a:spcBef>
                        <a:spcAft>
                          <a:spcPts val="0"/>
                        </a:spcAft>
                        <a:buNone/>
                      </a:pPr>
                      <a:r>
                        <a:rPr lang="en-GB" sz="1600" b="1" u="none" strike="noStrike" noProof="0" dirty="0">
                          <a:solidFill>
                            <a:schemeClr val="tx1">
                              <a:lumMod val="75000"/>
                              <a:lumOff val="25000"/>
                            </a:schemeClr>
                          </a:solidFill>
                        </a:rPr>
                        <a:t>         Log2FC</a:t>
                      </a:r>
                      <a:endParaRPr lang="en-US" sz="1600" b="1" dirty="0">
                        <a:solidFill>
                          <a:schemeClr val="tx1">
                            <a:lumMod val="75000"/>
                            <a:lumOff val="25000"/>
                          </a:schemeClr>
                        </a:solidFill>
                      </a:endParaRPr>
                    </a:p>
                    <a:p>
                      <a:pPr lvl="0">
                        <a:buNone/>
                      </a:pPr>
                      <a:br>
                        <a:rPr lang="en-US" sz="1600" b="1" dirty="0">
                          <a:solidFill>
                            <a:schemeClr val="tx1">
                              <a:lumMod val="75000"/>
                              <a:lumOff val="25000"/>
                            </a:schemeClr>
                          </a:solidFill>
                        </a:rPr>
                      </a:br>
                      <a:endParaRPr lang="en-US" sz="1600" b="1" dirty="0">
                        <a:solidFill>
                          <a:schemeClr val="tx1">
                            <a:lumMod val="75000"/>
                            <a:lumOff val="25000"/>
                          </a:schemeClr>
                        </a:solidFill>
                      </a:endParaRPr>
                    </a:p>
                  </a:txBody>
                  <a:tcPr marL="201160" marR="120696" marT="120696" marB="120696"/>
                </a:tc>
                <a:extLst>
                  <a:ext uri="{0D108BD9-81ED-4DB2-BD59-A6C34878D82A}">
                    <a16:rowId xmlns:a16="http://schemas.microsoft.com/office/drawing/2014/main" val="1747565680"/>
                  </a:ext>
                </a:extLst>
              </a:tr>
              <a:tr h="377552">
                <a:tc>
                  <a:txBody>
                    <a:bodyPr/>
                    <a:lstStyle/>
                    <a:p>
                      <a:pPr lvl="0">
                        <a:buNone/>
                      </a:pPr>
                      <a:r>
                        <a:rPr lang="en-GB" sz="1200" b="0" u="none" strike="noStrike" noProof="0" dirty="0">
                          <a:solidFill>
                            <a:schemeClr val="tx1">
                              <a:lumMod val="75000"/>
                              <a:lumOff val="25000"/>
                            </a:schemeClr>
                          </a:solidFill>
                        </a:rPr>
                        <a:t>RB1</a:t>
                      </a:r>
                      <a:endParaRPr lang="en-US" sz="1200" dirty="0">
                        <a:solidFill>
                          <a:schemeClr val="tx1">
                            <a:lumMod val="75000"/>
                            <a:lumOff val="25000"/>
                          </a:schemeClr>
                        </a:solidFill>
                      </a:endParaRPr>
                    </a:p>
                  </a:txBody>
                  <a:tcPr marL="201160" marR="104603" marT="104603" marB="104603"/>
                </a:tc>
                <a:tc>
                  <a:txBody>
                    <a:bodyPr/>
                    <a:lstStyle/>
                    <a:p>
                      <a:r>
                        <a:rPr lang="en-GB" sz="1200">
                          <a:solidFill>
                            <a:schemeClr val="tx1">
                              <a:lumMod val="75000"/>
                              <a:lumOff val="25000"/>
                            </a:schemeClr>
                          </a:solidFill>
                        </a:rPr>
                        <a:t>-0.226344</a:t>
                      </a:r>
                    </a:p>
                  </a:txBody>
                  <a:tcPr marL="201160" marR="104603" marT="104603" marB="104603"/>
                </a:tc>
                <a:extLst>
                  <a:ext uri="{0D108BD9-81ED-4DB2-BD59-A6C34878D82A}">
                    <a16:rowId xmlns:a16="http://schemas.microsoft.com/office/drawing/2014/main" val="770964227"/>
                  </a:ext>
                </a:extLst>
              </a:tr>
              <a:tr h="377552">
                <a:tc>
                  <a:txBody>
                    <a:bodyPr/>
                    <a:lstStyle/>
                    <a:p>
                      <a:pPr lvl="0">
                        <a:buNone/>
                      </a:pPr>
                      <a:r>
                        <a:rPr lang="en-GB" sz="1200" b="0" u="none" strike="noStrike" noProof="0" dirty="0">
                          <a:solidFill>
                            <a:schemeClr val="tx1">
                              <a:lumMod val="75000"/>
                              <a:lumOff val="25000"/>
                            </a:schemeClr>
                          </a:solidFill>
                        </a:rPr>
                        <a:t>FLT4</a:t>
                      </a:r>
                      <a:endParaRPr lang="en-US" sz="1200" dirty="0">
                        <a:solidFill>
                          <a:schemeClr val="tx1">
                            <a:lumMod val="75000"/>
                            <a:lumOff val="25000"/>
                          </a:schemeClr>
                        </a:solidFill>
                      </a:endParaRPr>
                    </a:p>
                  </a:txBody>
                  <a:tcPr marL="201160" marR="104603" marT="104603" marB="104603"/>
                </a:tc>
                <a:tc>
                  <a:txBody>
                    <a:bodyPr/>
                    <a:lstStyle/>
                    <a:p>
                      <a:r>
                        <a:rPr lang="en-GB" sz="1200" dirty="0">
                          <a:solidFill>
                            <a:schemeClr val="tx1">
                              <a:lumMod val="75000"/>
                              <a:lumOff val="25000"/>
                            </a:schemeClr>
                          </a:solidFill>
                        </a:rPr>
                        <a:t>0.090087</a:t>
                      </a:r>
                    </a:p>
                  </a:txBody>
                  <a:tcPr marL="201160" marR="104603" marT="104603" marB="104603"/>
                </a:tc>
                <a:extLst>
                  <a:ext uri="{0D108BD9-81ED-4DB2-BD59-A6C34878D82A}">
                    <a16:rowId xmlns:a16="http://schemas.microsoft.com/office/drawing/2014/main" val="4202943548"/>
                  </a:ext>
                </a:extLst>
              </a:tr>
              <a:tr h="377552">
                <a:tc>
                  <a:txBody>
                    <a:bodyPr/>
                    <a:lstStyle/>
                    <a:p>
                      <a:pPr lvl="0">
                        <a:buNone/>
                      </a:pPr>
                      <a:r>
                        <a:rPr lang="en-GB" sz="1200" b="0" u="none" strike="noStrike" noProof="0" dirty="0">
                          <a:solidFill>
                            <a:schemeClr val="tx1">
                              <a:lumMod val="75000"/>
                              <a:lumOff val="25000"/>
                            </a:schemeClr>
                          </a:solidFill>
                        </a:rPr>
                        <a:t>LEF1</a:t>
                      </a:r>
                      <a:endParaRPr lang="en-US" sz="1200" dirty="0">
                        <a:solidFill>
                          <a:schemeClr val="tx1">
                            <a:lumMod val="75000"/>
                            <a:lumOff val="25000"/>
                          </a:schemeClr>
                        </a:solidFill>
                      </a:endParaRPr>
                    </a:p>
                  </a:txBody>
                  <a:tcPr marL="201160" marR="104603" marT="104603" marB="104603"/>
                </a:tc>
                <a:tc>
                  <a:txBody>
                    <a:bodyPr/>
                    <a:lstStyle/>
                    <a:p>
                      <a:pPr lvl="0">
                        <a:buNone/>
                      </a:pPr>
                      <a:r>
                        <a:rPr lang="en-GB" sz="1200" b="0" u="none" strike="noStrike" noProof="0">
                          <a:solidFill>
                            <a:schemeClr val="tx1">
                              <a:lumMod val="75000"/>
                              <a:lumOff val="25000"/>
                            </a:schemeClr>
                          </a:solidFill>
                        </a:rPr>
                        <a:t>0.423752</a:t>
                      </a:r>
                      <a:endParaRPr lang="en-US" sz="1200">
                        <a:solidFill>
                          <a:schemeClr val="tx1">
                            <a:lumMod val="75000"/>
                            <a:lumOff val="25000"/>
                          </a:schemeClr>
                        </a:solidFill>
                      </a:endParaRPr>
                    </a:p>
                  </a:txBody>
                  <a:tcPr marL="201160" marR="104603" marT="104603" marB="104603"/>
                </a:tc>
                <a:extLst>
                  <a:ext uri="{0D108BD9-81ED-4DB2-BD59-A6C34878D82A}">
                    <a16:rowId xmlns:a16="http://schemas.microsoft.com/office/drawing/2014/main" val="450263106"/>
                  </a:ext>
                </a:extLst>
              </a:tr>
              <a:tr h="377552">
                <a:tc>
                  <a:txBody>
                    <a:bodyPr/>
                    <a:lstStyle/>
                    <a:p>
                      <a:pPr lvl="0">
                        <a:buNone/>
                      </a:pPr>
                      <a:r>
                        <a:rPr lang="en-GB" sz="1200" b="0" u="none" strike="noStrike" noProof="0" dirty="0">
                          <a:solidFill>
                            <a:schemeClr val="tx1">
                              <a:lumMod val="75000"/>
                              <a:lumOff val="25000"/>
                            </a:schemeClr>
                          </a:solidFill>
                        </a:rPr>
                        <a:t>PTEN</a:t>
                      </a:r>
                      <a:endParaRPr lang="en-US" sz="1200" dirty="0">
                        <a:solidFill>
                          <a:schemeClr val="tx1">
                            <a:lumMod val="75000"/>
                            <a:lumOff val="25000"/>
                          </a:schemeClr>
                        </a:solidFill>
                      </a:endParaRPr>
                    </a:p>
                  </a:txBody>
                  <a:tcPr marL="201160" marR="104603" marT="104603" marB="104603"/>
                </a:tc>
                <a:tc>
                  <a:txBody>
                    <a:bodyPr/>
                    <a:lstStyle/>
                    <a:p>
                      <a:pPr lvl="0">
                        <a:buNone/>
                      </a:pPr>
                      <a:r>
                        <a:rPr lang="en-GB" sz="1200" b="0" u="none" strike="noStrike" noProof="0" dirty="0">
                          <a:solidFill>
                            <a:schemeClr val="tx1">
                              <a:lumMod val="75000"/>
                              <a:lumOff val="25000"/>
                            </a:schemeClr>
                          </a:solidFill>
                        </a:rPr>
                        <a:t>0.105720</a:t>
                      </a:r>
                      <a:endParaRPr lang="en-US" sz="1200" dirty="0">
                        <a:solidFill>
                          <a:schemeClr val="tx1">
                            <a:lumMod val="75000"/>
                            <a:lumOff val="25000"/>
                          </a:schemeClr>
                        </a:solidFill>
                      </a:endParaRPr>
                    </a:p>
                  </a:txBody>
                  <a:tcPr marL="201160" marR="104603" marT="104603" marB="104603"/>
                </a:tc>
                <a:extLst>
                  <a:ext uri="{0D108BD9-81ED-4DB2-BD59-A6C34878D82A}">
                    <a16:rowId xmlns:a16="http://schemas.microsoft.com/office/drawing/2014/main" val="2639454347"/>
                  </a:ext>
                </a:extLst>
              </a:tr>
              <a:tr h="377552">
                <a:tc>
                  <a:txBody>
                    <a:bodyPr/>
                    <a:lstStyle/>
                    <a:p>
                      <a:pPr lvl="0">
                        <a:buNone/>
                      </a:pPr>
                      <a:r>
                        <a:rPr lang="en-GB" sz="1200" b="0" u="none" strike="noStrike" noProof="0" dirty="0">
                          <a:solidFill>
                            <a:schemeClr val="tx1">
                              <a:lumMod val="75000"/>
                              <a:lumOff val="25000"/>
                            </a:schemeClr>
                          </a:solidFill>
                        </a:rPr>
                        <a:t>FGF2</a:t>
                      </a:r>
                      <a:endParaRPr lang="en-US" sz="1200" dirty="0">
                        <a:solidFill>
                          <a:schemeClr val="tx1">
                            <a:lumMod val="75000"/>
                            <a:lumOff val="25000"/>
                          </a:schemeClr>
                        </a:solidFill>
                      </a:endParaRPr>
                    </a:p>
                  </a:txBody>
                  <a:tcPr marL="201160" marR="104603" marT="104603" marB="104603"/>
                </a:tc>
                <a:tc>
                  <a:txBody>
                    <a:bodyPr/>
                    <a:lstStyle/>
                    <a:p>
                      <a:pPr lvl="0">
                        <a:buNone/>
                      </a:pPr>
                      <a:r>
                        <a:rPr lang="en-GB" sz="1200" b="0" u="none" strike="noStrike" noProof="0">
                          <a:solidFill>
                            <a:schemeClr val="tx1">
                              <a:lumMod val="75000"/>
                              <a:lumOff val="25000"/>
                            </a:schemeClr>
                          </a:solidFill>
                        </a:rPr>
                        <a:t>-0.040633</a:t>
                      </a:r>
                      <a:endParaRPr lang="en-US" sz="1200">
                        <a:solidFill>
                          <a:schemeClr val="tx1">
                            <a:lumMod val="75000"/>
                            <a:lumOff val="25000"/>
                          </a:schemeClr>
                        </a:solidFill>
                      </a:endParaRPr>
                    </a:p>
                  </a:txBody>
                  <a:tcPr marL="201160" marR="104603" marT="104603" marB="104603"/>
                </a:tc>
                <a:extLst>
                  <a:ext uri="{0D108BD9-81ED-4DB2-BD59-A6C34878D82A}">
                    <a16:rowId xmlns:a16="http://schemas.microsoft.com/office/drawing/2014/main" val="1198296270"/>
                  </a:ext>
                </a:extLst>
              </a:tr>
              <a:tr h="377552">
                <a:tc>
                  <a:txBody>
                    <a:bodyPr/>
                    <a:lstStyle/>
                    <a:p>
                      <a:pPr lvl="0">
                        <a:buNone/>
                      </a:pPr>
                      <a:r>
                        <a:rPr lang="en-GB" sz="1200" b="0" u="none" strike="noStrike" noProof="0" dirty="0">
                          <a:solidFill>
                            <a:schemeClr val="tx1">
                              <a:lumMod val="75000"/>
                              <a:lumOff val="25000"/>
                            </a:schemeClr>
                          </a:solidFill>
                        </a:rPr>
                        <a:t>EGFR</a:t>
                      </a:r>
                      <a:endParaRPr lang="en-US" sz="1200" dirty="0">
                        <a:solidFill>
                          <a:schemeClr val="tx1">
                            <a:lumMod val="75000"/>
                            <a:lumOff val="25000"/>
                          </a:schemeClr>
                        </a:solidFill>
                      </a:endParaRPr>
                    </a:p>
                  </a:txBody>
                  <a:tcPr marL="201160" marR="104603" marT="104603" marB="104603"/>
                </a:tc>
                <a:tc>
                  <a:txBody>
                    <a:bodyPr/>
                    <a:lstStyle/>
                    <a:p>
                      <a:pPr lvl="0">
                        <a:buNone/>
                      </a:pPr>
                      <a:r>
                        <a:rPr lang="en-GB" sz="1200" b="0" u="none" strike="noStrike" noProof="0">
                          <a:solidFill>
                            <a:schemeClr val="tx1">
                              <a:lumMod val="75000"/>
                              <a:lumOff val="25000"/>
                            </a:schemeClr>
                          </a:solidFill>
                        </a:rPr>
                        <a:t>-0.071073</a:t>
                      </a:r>
                      <a:endParaRPr lang="en-US" sz="1200">
                        <a:solidFill>
                          <a:schemeClr val="tx1">
                            <a:lumMod val="75000"/>
                            <a:lumOff val="25000"/>
                          </a:schemeClr>
                        </a:solidFill>
                      </a:endParaRPr>
                    </a:p>
                  </a:txBody>
                  <a:tcPr marL="201160" marR="104603" marT="104603" marB="104603"/>
                </a:tc>
                <a:extLst>
                  <a:ext uri="{0D108BD9-81ED-4DB2-BD59-A6C34878D82A}">
                    <a16:rowId xmlns:a16="http://schemas.microsoft.com/office/drawing/2014/main" val="118786797"/>
                  </a:ext>
                </a:extLst>
              </a:tr>
              <a:tr h="377552">
                <a:tc>
                  <a:txBody>
                    <a:bodyPr/>
                    <a:lstStyle/>
                    <a:p>
                      <a:pPr lvl="0">
                        <a:buNone/>
                      </a:pPr>
                      <a:r>
                        <a:rPr lang="en-GB" sz="1200" b="0" u="none" strike="noStrike" noProof="0" dirty="0">
                          <a:solidFill>
                            <a:schemeClr val="tx1">
                              <a:lumMod val="75000"/>
                              <a:lumOff val="25000"/>
                            </a:schemeClr>
                          </a:solidFill>
                        </a:rPr>
                        <a:t>IGF1R</a:t>
                      </a:r>
                      <a:endParaRPr lang="en-US" sz="1200" dirty="0">
                        <a:solidFill>
                          <a:schemeClr val="tx1">
                            <a:lumMod val="75000"/>
                            <a:lumOff val="25000"/>
                          </a:schemeClr>
                        </a:solidFill>
                      </a:endParaRPr>
                    </a:p>
                  </a:txBody>
                  <a:tcPr marL="201160" marR="104603" marT="104603" marB="104603"/>
                </a:tc>
                <a:tc>
                  <a:txBody>
                    <a:bodyPr/>
                    <a:lstStyle/>
                    <a:p>
                      <a:pPr lvl="0">
                        <a:buNone/>
                      </a:pPr>
                      <a:r>
                        <a:rPr lang="en-GB" sz="1200" b="0" u="none" strike="noStrike" noProof="0">
                          <a:solidFill>
                            <a:schemeClr val="tx1">
                              <a:lumMod val="75000"/>
                              <a:lumOff val="25000"/>
                            </a:schemeClr>
                          </a:solidFill>
                        </a:rPr>
                        <a:t>0.076756</a:t>
                      </a:r>
                      <a:endParaRPr lang="en-US" sz="1200">
                        <a:solidFill>
                          <a:schemeClr val="tx1">
                            <a:lumMod val="75000"/>
                            <a:lumOff val="25000"/>
                          </a:schemeClr>
                        </a:solidFill>
                      </a:endParaRPr>
                    </a:p>
                  </a:txBody>
                  <a:tcPr marL="201160" marR="104603" marT="104603" marB="104603"/>
                </a:tc>
                <a:extLst>
                  <a:ext uri="{0D108BD9-81ED-4DB2-BD59-A6C34878D82A}">
                    <a16:rowId xmlns:a16="http://schemas.microsoft.com/office/drawing/2014/main" val="2307145024"/>
                  </a:ext>
                </a:extLst>
              </a:tr>
              <a:tr h="377552">
                <a:tc>
                  <a:txBody>
                    <a:bodyPr/>
                    <a:lstStyle/>
                    <a:p>
                      <a:pPr lvl="0">
                        <a:buNone/>
                      </a:pPr>
                      <a:r>
                        <a:rPr lang="en-GB" sz="1200" b="0" u="none" strike="noStrike" noProof="0" dirty="0">
                          <a:solidFill>
                            <a:schemeClr val="tx1">
                              <a:lumMod val="75000"/>
                              <a:lumOff val="25000"/>
                            </a:schemeClr>
                          </a:solidFill>
                        </a:rPr>
                        <a:t>FGF5</a:t>
                      </a:r>
                      <a:endParaRPr lang="en-US" sz="1200" dirty="0">
                        <a:solidFill>
                          <a:schemeClr val="tx1">
                            <a:lumMod val="75000"/>
                            <a:lumOff val="25000"/>
                          </a:schemeClr>
                        </a:solidFill>
                      </a:endParaRPr>
                    </a:p>
                  </a:txBody>
                  <a:tcPr marL="201160" marR="104603" marT="104603" marB="104603"/>
                </a:tc>
                <a:tc>
                  <a:txBody>
                    <a:bodyPr/>
                    <a:lstStyle/>
                    <a:p>
                      <a:pPr lvl="0">
                        <a:buNone/>
                      </a:pPr>
                      <a:r>
                        <a:rPr lang="en-GB" sz="1200" b="0" u="none" strike="noStrike" noProof="0">
                          <a:solidFill>
                            <a:schemeClr val="tx1">
                              <a:lumMod val="75000"/>
                              <a:lumOff val="25000"/>
                            </a:schemeClr>
                          </a:solidFill>
                        </a:rPr>
                        <a:t>-0.192238</a:t>
                      </a:r>
                      <a:endParaRPr lang="en-US" sz="1200">
                        <a:solidFill>
                          <a:schemeClr val="tx1">
                            <a:lumMod val="75000"/>
                            <a:lumOff val="25000"/>
                          </a:schemeClr>
                        </a:solidFill>
                      </a:endParaRPr>
                    </a:p>
                  </a:txBody>
                  <a:tcPr marL="201160" marR="104603" marT="104603" marB="104603"/>
                </a:tc>
                <a:extLst>
                  <a:ext uri="{0D108BD9-81ED-4DB2-BD59-A6C34878D82A}">
                    <a16:rowId xmlns:a16="http://schemas.microsoft.com/office/drawing/2014/main" val="1714902163"/>
                  </a:ext>
                </a:extLst>
              </a:tr>
              <a:tr h="377552">
                <a:tc>
                  <a:txBody>
                    <a:bodyPr/>
                    <a:lstStyle/>
                    <a:p>
                      <a:pPr lvl="0">
                        <a:buNone/>
                      </a:pPr>
                      <a:r>
                        <a:rPr lang="en-GB" sz="1200" b="0" u="none" strike="noStrike" noProof="0" dirty="0">
                          <a:solidFill>
                            <a:schemeClr val="tx1">
                              <a:lumMod val="75000"/>
                              <a:lumOff val="25000"/>
                            </a:schemeClr>
                          </a:solidFill>
                        </a:rPr>
                        <a:t>ERBB2</a:t>
                      </a:r>
                      <a:endParaRPr lang="en-US" sz="1200" dirty="0">
                        <a:solidFill>
                          <a:schemeClr val="tx1">
                            <a:lumMod val="75000"/>
                            <a:lumOff val="25000"/>
                          </a:schemeClr>
                        </a:solidFill>
                      </a:endParaRPr>
                    </a:p>
                  </a:txBody>
                  <a:tcPr marL="201160" marR="104603" marT="104603" marB="104603"/>
                </a:tc>
                <a:tc>
                  <a:txBody>
                    <a:bodyPr/>
                    <a:lstStyle/>
                    <a:p>
                      <a:pPr lvl="0">
                        <a:buNone/>
                      </a:pPr>
                      <a:r>
                        <a:rPr lang="en-GB" sz="1200" b="0" u="none" strike="noStrike" noProof="0">
                          <a:solidFill>
                            <a:schemeClr val="tx1">
                              <a:lumMod val="75000"/>
                              <a:lumOff val="25000"/>
                            </a:schemeClr>
                          </a:solidFill>
                        </a:rPr>
                        <a:t>-0.248987</a:t>
                      </a:r>
                      <a:endParaRPr lang="en-US" sz="1200">
                        <a:solidFill>
                          <a:schemeClr val="tx1">
                            <a:lumMod val="75000"/>
                            <a:lumOff val="25000"/>
                          </a:schemeClr>
                        </a:solidFill>
                      </a:endParaRPr>
                    </a:p>
                  </a:txBody>
                  <a:tcPr marL="201160" marR="104603" marT="104603" marB="104603"/>
                </a:tc>
                <a:extLst>
                  <a:ext uri="{0D108BD9-81ED-4DB2-BD59-A6C34878D82A}">
                    <a16:rowId xmlns:a16="http://schemas.microsoft.com/office/drawing/2014/main" val="56717474"/>
                  </a:ext>
                </a:extLst>
              </a:tr>
              <a:tr h="377552">
                <a:tc>
                  <a:txBody>
                    <a:bodyPr/>
                    <a:lstStyle/>
                    <a:p>
                      <a:pPr lvl="0">
                        <a:buNone/>
                      </a:pPr>
                      <a:r>
                        <a:rPr lang="en-GB" sz="1200" b="0" u="none" strike="noStrike" noProof="0" dirty="0">
                          <a:solidFill>
                            <a:schemeClr val="tx1">
                              <a:lumMod val="75000"/>
                              <a:lumOff val="25000"/>
                            </a:schemeClr>
                          </a:solidFill>
                        </a:rPr>
                        <a:t>E2F3</a:t>
                      </a:r>
                      <a:endParaRPr lang="en-US" sz="1200" dirty="0">
                        <a:solidFill>
                          <a:schemeClr val="tx1">
                            <a:lumMod val="75000"/>
                            <a:lumOff val="25000"/>
                          </a:schemeClr>
                        </a:solidFill>
                      </a:endParaRPr>
                    </a:p>
                  </a:txBody>
                  <a:tcPr marL="201160" marR="104603" marT="104603" marB="104603"/>
                </a:tc>
                <a:tc>
                  <a:txBody>
                    <a:bodyPr/>
                    <a:lstStyle/>
                    <a:p>
                      <a:pPr lvl="0">
                        <a:buNone/>
                      </a:pPr>
                      <a:r>
                        <a:rPr lang="en-GB" sz="1200" b="0" u="none" strike="noStrike" noProof="0">
                          <a:solidFill>
                            <a:schemeClr val="tx1">
                              <a:lumMod val="75000"/>
                              <a:lumOff val="25000"/>
                            </a:schemeClr>
                          </a:solidFill>
                        </a:rPr>
                        <a:t>-0.069058</a:t>
                      </a:r>
                      <a:endParaRPr lang="en-US" sz="1200">
                        <a:solidFill>
                          <a:schemeClr val="tx1">
                            <a:lumMod val="75000"/>
                            <a:lumOff val="25000"/>
                          </a:schemeClr>
                        </a:solidFill>
                      </a:endParaRPr>
                    </a:p>
                  </a:txBody>
                  <a:tcPr marL="201160" marR="104603" marT="104603" marB="104603"/>
                </a:tc>
                <a:extLst>
                  <a:ext uri="{0D108BD9-81ED-4DB2-BD59-A6C34878D82A}">
                    <a16:rowId xmlns:a16="http://schemas.microsoft.com/office/drawing/2014/main" val="1846185307"/>
                  </a:ext>
                </a:extLst>
              </a:tr>
              <a:tr h="377552">
                <a:tc>
                  <a:txBody>
                    <a:bodyPr/>
                    <a:lstStyle/>
                    <a:p>
                      <a:pPr lvl="0">
                        <a:buNone/>
                      </a:pPr>
                      <a:r>
                        <a:rPr lang="en-GB" sz="1200" b="0" u="none" strike="noStrike" noProof="0" dirty="0">
                          <a:solidFill>
                            <a:schemeClr val="tx1">
                              <a:lumMod val="75000"/>
                              <a:lumOff val="25000"/>
                            </a:schemeClr>
                          </a:solidFill>
                        </a:rPr>
                        <a:t>HES1</a:t>
                      </a:r>
                      <a:endParaRPr lang="en-US" sz="1200" dirty="0">
                        <a:solidFill>
                          <a:schemeClr val="tx1">
                            <a:lumMod val="75000"/>
                            <a:lumOff val="25000"/>
                          </a:schemeClr>
                        </a:solidFill>
                      </a:endParaRPr>
                    </a:p>
                  </a:txBody>
                  <a:tcPr marL="201160" marR="104603" marT="104603" marB="104603"/>
                </a:tc>
                <a:tc>
                  <a:txBody>
                    <a:bodyPr/>
                    <a:lstStyle/>
                    <a:p>
                      <a:pPr lvl="0">
                        <a:buNone/>
                      </a:pPr>
                      <a:r>
                        <a:rPr lang="en-GB" sz="1200" b="0" u="none" strike="noStrike" noProof="0">
                          <a:solidFill>
                            <a:schemeClr val="tx1">
                              <a:lumMod val="75000"/>
                              <a:lumOff val="25000"/>
                            </a:schemeClr>
                          </a:solidFill>
                        </a:rPr>
                        <a:t>0.198759</a:t>
                      </a:r>
                      <a:endParaRPr lang="en-US" sz="1200">
                        <a:solidFill>
                          <a:schemeClr val="tx1">
                            <a:lumMod val="75000"/>
                            <a:lumOff val="25000"/>
                          </a:schemeClr>
                        </a:solidFill>
                      </a:endParaRPr>
                    </a:p>
                  </a:txBody>
                  <a:tcPr marL="201160" marR="104603" marT="104603" marB="104603"/>
                </a:tc>
                <a:extLst>
                  <a:ext uri="{0D108BD9-81ED-4DB2-BD59-A6C34878D82A}">
                    <a16:rowId xmlns:a16="http://schemas.microsoft.com/office/drawing/2014/main" val="1379408246"/>
                  </a:ext>
                </a:extLst>
              </a:tr>
              <a:tr h="377552">
                <a:tc>
                  <a:txBody>
                    <a:bodyPr/>
                    <a:lstStyle/>
                    <a:p>
                      <a:pPr lvl="0">
                        <a:buNone/>
                      </a:pPr>
                      <a:r>
                        <a:rPr lang="en-GB" sz="1200" b="0" u="none" strike="noStrike" noProof="0" dirty="0">
                          <a:solidFill>
                            <a:schemeClr val="tx1">
                              <a:lumMod val="75000"/>
                              <a:lumOff val="25000"/>
                            </a:schemeClr>
                          </a:solidFill>
                        </a:rPr>
                        <a:t>FZD1</a:t>
                      </a:r>
                      <a:endParaRPr lang="en-US" sz="1200" dirty="0">
                        <a:solidFill>
                          <a:schemeClr val="tx1">
                            <a:lumMod val="75000"/>
                            <a:lumOff val="25000"/>
                          </a:schemeClr>
                        </a:solidFill>
                      </a:endParaRPr>
                    </a:p>
                  </a:txBody>
                  <a:tcPr marL="201160" marR="104603" marT="104603" marB="104603"/>
                </a:tc>
                <a:tc>
                  <a:txBody>
                    <a:bodyPr/>
                    <a:lstStyle/>
                    <a:p>
                      <a:pPr lvl="0">
                        <a:buNone/>
                      </a:pPr>
                      <a:r>
                        <a:rPr lang="en-GB" sz="1200" b="0" u="none" strike="noStrike" noProof="0" dirty="0">
                          <a:solidFill>
                            <a:schemeClr val="tx1">
                              <a:lumMod val="75000"/>
                              <a:lumOff val="25000"/>
                            </a:schemeClr>
                          </a:solidFill>
                        </a:rPr>
                        <a:t>-0.084788</a:t>
                      </a:r>
                      <a:endParaRPr lang="en-US" sz="1200" dirty="0">
                        <a:solidFill>
                          <a:schemeClr val="tx1">
                            <a:lumMod val="75000"/>
                            <a:lumOff val="25000"/>
                          </a:schemeClr>
                        </a:solidFill>
                      </a:endParaRPr>
                    </a:p>
                  </a:txBody>
                  <a:tcPr marL="201160" marR="104603" marT="104603" marB="104603"/>
                </a:tc>
                <a:extLst>
                  <a:ext uri="{0D108BD9-81ED-4DB2-BD59-A6C34878D82A}">
                    <a16:rowId xmlns:a16="http://schemas.microsoft.com/office/drawing/2014/main" val="4050175022"/>
                  </a:ext>
                </a:extLst>
              </a:tr>
            </a:tbl>
          </a:graphicData>
        </a:graphic>
      </p:graphicFrame>
      <p:sp>
        <p:nvSpPr>
          <p:cNvPr id="4" name="Slide Number Placeholder 3">
            <a:extLst>
              <a:ext uri="{FF2B5EF4-FFF2-40B4-BE49-F238E27FC236}">
                <a16:creationId xmlns:a16="http://schemas.microsoft.com/office/drawing/2014/main" id="{F7F06547-CE01-B138-AE35-8DF63B43D7A1}"/>
              </a:ext>
            </a:extLst>
          </p:cNvPr>
          <p:cNvSpPr>
            <a:spLocks noGrp="1"/>
          </p:cNvSpPr>
          <p:nvPr>
            <p:ph type="sldNum" sz="quarter" idx="12"/>
          </p:nvPr>
        </p:nvSpPr>
        <p:spPr/>
        <p:txBody>
          <a:bodyPr/>
          <a:lstStyle/>
          <a:p>
            <a:fld id="{330EA680-D336-4FF7-8B7A-9848BB0A1C32}" type="slidenum">
              <a:rPr lang="en-GB" smtClean="0"/>
              <a:t>14</a:t>
            </a:fld>
            <a:endParaRPr lang="en-GB"/>
          </a:p>
        </p:txBody>
      </p:sp>
    </p:spTree>
    <p:extLst>
      <p:ext uri="{BB962C8B-B14F-4D97-AF65-F5344CB8AC3E}">
        <p14:creationId xmlns:p14="http://schemas.microsoft.com/office/powerpoint/2010/main" val="1165306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0">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F9AE02A-206A-36E8-2B53-E57F1D3B45A9}"/>
              </a:ext>
            </a:extLst>
          </p:cNvPr>
          <p:cNvSpPr>
            <a:spLocks noGrp="1"/>
          </p:cNvSpPr>
          <p:nvPr>
            <p:ph type="title"/>
          </p:nvPr>
        </p:nvSpPr>
        <p:spPr>
          <a:xfrm>
            <a:off x="265176" y="1216152"/>
            <a:ext cx="6099048" cy="3291840"/>
          </a:xfrm>
        </p:spPr>
        <p:txBody>
          <a:bodyPr vert="horz" lIns="91440" tIns="45720" rIns="91440" bIns="45720" rtlCol="0" anchor="b">
            <a:normAutofit/>
          </a:bodyPr>
          <a:lstStyle/>
          <a:p>
            <a:r>
              <a:rPr lang="en-US" sz="3600" b="1" kern="1200" dirty="0">
                <a:solidFill>
                  <a:schemeClr val="tx1"/>
                </a:solidFill>
                <a:latin typeface="Times New Roman" panose="02020603050405020304" pitchFamily="18" charset="0"/>
                <a:cs typeface="Times New Roman" panose="02020603050405020304" pitchFamily="18" charset="0"/>
              </a:rPr>
              <a:t>Genes Enriched in the Breast  Cancer Pathway in GSE15852</a:t>
            </a:r>
            <a:endParaRPr lang="en-US" sz="3600" kern="1200" dirty="0">
              <a:solidFill>
                <a:schemeClr val="tx1"/>
              </a:solidFill>
              <a:latin typeface="Times New Roman" panose="02020603050405020304" pitchFamily="18" charset="0"/>
              <a:cs typeface="Times New Roman" panose="02020603050405020304" pitchFamily="18" charset="0"/>
            </a:endParaRPr>
          </a:p>
          <a:p>
            <a:endParaRPr lang="en-US" kern="1200" dirty="0">
              <a:solidFill>
                <a:schemeClr val="tx1"/>
              </a:solidFill>
              <a:latin typeface="+mj-lt"/>
              <a:ea typeface="+mj-ea"/>
              <a:cs typeface="+mj-cs"/>
            </a:endParaRPr>
          </a:p>
        </p:txBody>
      </p:sp>
      <p:graphicFrame>
        <p:nvGraphicFramePr>
          <p:cNvPr id="4" name="Content Placeholder 3">
            <a:extLst>
              <a:ext uri="{FF2B5EF4-FFF2-40B4-BE49-F238E27FC236}">
                <a16:creationId xmlns:a16="http://schemas.microsoft.com/office/drawing/2014/main" id="{2CEFD2C6-6332-2328-7796-739B9BCD356D}"/>
              </a:ext>
            </a:extLst>
          </p:cNvPr>
          <p:cNvGraphicFramePr>
            <a:graphicFrameLocks noGrp="1"/>
          </p:cNvGraphicFramePr>
          <p:nvPr>
            <p:ph idx="1"/>
            <p:extLst>
              <p:ext uri="{D42A27DB-BD31-4B8C-83A1-F6EECF244321}">
                <p14:modId xmlns:p14="http://schemas.microsoft.com/office/powerpoint/2010/main" val="1523064964"/>
              </p:ext>
            </p:extLst>
          </p:nvPr>
        </p:nvGraphicFramePr>
        <p:xfrm>
          <a:off x="6645794" y="643467"/>
          <a:ext cx="4863198" cy="5571075"/>
        </p:xfrm>
        <a:graphic>
          <a:graphicData uri="http://schemas.openxmlformats.org/drawingml/2006/table">
            <a:tbl>
              <a:tblPr firstRow="1" bandRow="1">
                <a:tableStyleId>{D7AC3CCA-C797-4891-BE02-D94E43425B78}</a:tableStyleId>
              </a:tblPr>
              <a:tblGrid>
                <a:gridCol w="2487426">
                  <a:extLst>
                    <a:ext uri="{9D8B030D-6E8A-4147-A177-3AD203B41FA5}">
                      <a16:colId xmlns:a16="http://schemas.microsoft.com/office/drawing/2014/main" val="2481172307"/>
                    </a:ext>
                  </a:extLst>
                </a:gridCol>
                <a:gridCol w="2375772">
                  <a:extLst>
                    <a:ext uri="{9D8B030D-6E8A-4147-A177-3AD203B41FA5}">
                      <a16:colId xmlns:a16="http://schemas.microsoft.com/office/drawing/2014/main" val="4192530118"/>
                    </a:ext>
                  </a:extLst>
                </a:gridCol>
              </a:tblGrid>
              <a:tr h="433901">
                <a:tc>
                  <a:txBody>
                    <a:bodyPr/>
                    <a:lstStyle/>
                    <a:p>
                      <a:r>
                        <a:rPr lang="en-GB" sz="1200" b="1" cap="all" spc="60" dirty="0">
                          <a:solidFill>
                            <a:schemeClr val="tx1"/>
                          </a:solidFill>
                        </a:rPr>
                        <a:t>Gene</a:t>
                      </a:r>
                      <a:endParaRPr lang="en-GB" sz="1200" b="1" cap="all" spc="60" dirty="0">
                        <a:solidFill>
                          <a:schemeClr val="tx1"/>
                        </a:solidFill>
                        <a:latin typeface="Times New Roman" panose="02020603050405020304" pitchFamily="18" charset="0"/>
                        <a:cs typeface="Times New Roman" panose="02020603050405020304" pitchFamily="18" charset="0"/>
                      </a:endParaRPr>
                    </a:p>
                  </a:txBody>
                  <a:tcPr marL="120528" marR="120528" marT="120528" marB="120528"/>
                </a:tc>
                <a:tc>
                  <a:txBody>
                    <a:bodyPr/>
                    <a:lstStyle/>
                    <a:p>
                      <a:r>
                        <a:rPr lang="en-GB" sz="1200" b="1" cap="all" spc="60">
                          <a:solidFill>
                            <a:schemeClr val="tx1"/>
                          </a:solidFill>
                        </a:rPr>
                        <a:t>Log2FC</a:t>
                      </a:r>
                      <a:endParaRPr lang="en-GB" sz="1200" b="1" cap="all" spc="60" err="1">
                        <a:solidFill>
                          <a:schemeClr val="tx1"/>
                        </a:solidFill>
                        <a:latin typeface="Times New Roman" panose="02020603050405020304" pitchFamily="18" charset="0"/>
                        <a:cs typeface="Times New Roman" panose="02020603050405020304" pitchFamily="18" charset="0"/>
                      </a:endParaRPr>
                    </a:p>
                  </a:txBody>
                  <a:tcPr marL="120528" marR="120528" marT="120528" marB="120528"/>
                </a:tc>
                <a:extLst>
                  <a:ext uri="{0D108BD9-81ED-4DB2-BD59-A6C34878D82A}">
                    <a16:rowId xmlns:a16="http://schemas.microsoft.com/office/drawing/2014/main" val="416995340"/>
                  </a:ext>
                </a:extLst>
              </a:tr>
              <a:tr h="366941">
                <a:tc>
                  <a:txBody>
                    <a:bodyPr/>
                    <a:lstStyle/>
                    <a:p>
                      <a:pPr lvl="0">
                        <a:buNone/>
                      </a:pPr>
                      <a:r>
                        <a:rPr lang="en-GB" sz="1200" b="0" u="none" strike="noStrike" cap="none" spc="0" noProof="0" dirty="0">
                          <a:solidFill>
                            <a:schemeClr val="tx1"/>
                          </a:solidFill>
                        </a:rPr>
                        <a:t>JUN</a:t>
                      </a:r>
                      <a:endParaRPr lang="en-US" sz="1200" cap="none" spc="0" dirty="0">
                        <a:solidFill>
                          <a:schemeClr val="tx1"/>
                        </a:solidFill>
                        <a:latin typeface="Times New Roman" panose="02020603050405020304" pitchFamily="18" charset="0"/>
                        <a:cs typeface="Times New Roman" panose="02020603050405020304" pitchFamily="18" charset="0"/>
                      </a:endParaRPr>
                    </a:p>
                  </a:txBody>
                  <a:tcPr marL="80352" marR="80352" marT="40176" marB="80352"/>
                </a:tc>
                <a:tc>
                  <a:txBody>
                    <a:bodyPr/>
                    <a:lstStyle/>
                    <a:p>
                      <a:pPr lvl="0">
                        <a:buNone/>
                      </a:pPr>
                      <a:r>
                        <a:rPr lang="en-GB" sz="1200" b="0" u="none" strike="noStrike" cap="none" spc="0" noProof="0">
                          <a:solidFill>
                            <a:schemeClr val="tx1"/>
                          </a:solidFill>
                        </a:rPr>
                        <a:t>0.168994</a:t>
                      </a:r>
                      <a:endParaRPr lang="en-US" sz="1200" cap="none" spc="0">
                        <a:solidFill>
                          <a:schemeClr val="tx1"/>
                        </a:solidFill>
                        <a:latin typeface="Times New Roman" panose="02020603050405020304" pitchFamily="18" charset="0"/>
                        <a:cs typeface="Times New Roman" panose="02020603050405020304" pitchFamily="18" charset="0"/>
                      </a:endParaRPr>
                    </a:p>
                  </a:txBody>
                  <a:tcPr marL="80352" marR="80352" marT="40176" marB="80352"/>
                </a:tc>
                <a:extLst>
                  <a:ext uri="{0D108BD9-81ED-4DB2-BD59-A6C34878D82A}">
                    <a16:rowId xmlns:a16="http://schemas.microsoft.com/office/drawing/2014/main" val="4082697977"/>
                  </a:ext>
                </a:extLst>
              </a:tr>
              <a:tr h="366941">
                <a:tc>
                  <a:txBody>
                    <a:bodyPr/>
                    <a:lstStyle/>
                    <a:p>
                      <a:pPr lvl="0">
                        <a:buNone/>
                      </a:pPr>
                      <a:r>
                        <a:rPr lang="en-GB" sz="1200" b="0" u="none" strike="noStrike" cap="none" spc="0" noProof="0" dirty="0">
                          <a:solidFill>
                            <a:schemeClr val="tx1"/>
                          </a:solidFill>
                        </a:rPr>
                        <a:t>FZD5</a:t>
                      </a:r>
                      <a:endParaRPr lang="en-US" sz="1200" cap="none" spc="0" dirty="0">
                        <a:solidFill>
                          <a:schemeClr val="tx1"/>
                        </a:solidFill>
                        <a:latin typeface="Times New Roman" panose="02020603050405020304" pitchFamily="18" charset="0"/>
                        <a:cs typeface="Times New Roman" panose="02020603050405020304" pitchFamily="18" charset="0"/>
                      </a:endParaRPr>
                    </a:p>
                  </a:txBody>
                  <a:tcPr marL="80352" marR="80352" marT="40176" marB="80352"/>
                </a:tc>
                <a:tc>
                  <a:txBody>
                    <a:bodyPr/>
                    <a:lstStyle/>
                    <a:p>
                      <a:pPr lvl="0">
                        <a:buNone/>
                      </a:pPr>
                      <a:r>
                        <a:rPr lang="en-GB" sz="1200" b="0" u="none" strike="noStrike" cap="none" spc="0" noProof="0">
                          <a:solidFill>
                            <a:schemeClr val="tx1"/>
                          </a:solidFill>
                        </a:rPr>
                        <a:t>-0.074398</a:t>
                      </a:r>
                      <a:endParaRPr lang="en-US" sz="1200" cap="none" spc="0">
                        <a:solidFill>
                          <a:schemeClr val="tx1"/>
                        </a:solidFill>
                        <a:latin typeface="Times New Roman" panose="02020603050405020304" pitchFamily="18" charset="0"/>
                        <a:cs typeface="Times New Roman" panose="02020603050405020304" pitchFamily="18" charset="0"/>
                      </a:endParaRPr>
                    </a:p>
                  </a:txBody>
                  <a:tcPr marL="80352" marR="80352" marT="40176" marB="80352"/>
                </a:tc>
                <a:extLst>
                  <a:ext uri="{0D108BD9-81ED-4DB2-BD59-A6C34878D82A}">
                    <a16:rowId xmlns:a16="http://schemas.microsoft.com/office/drawing/2014/main" val="2160826195"/>
                  </a:ext>
                </a:extLst>
              </a:tr>
              <a:tr h="366941">
                <a:tc>
                  <a:txBody>
                    <a:bodyPr/>
                    <a:lstStyle/>
                    <a:p>
                      <a:pPr lvl="0">
                        <a:buNone/>
                      </a:pPr>
                      <a:r>
                        <a:rPr lang="en-GB" sz="1200" b="0" u="none" strike="noStrike" cap="none" spc="0" noProof="0" dirty="0">
                          <a:solidFill>
                            <a:schemeClr val="tx1"/>
                          </a:solidFill>
                        </a:rPr>
                        <a:t>FZD4</a:t>
                      </a:r>
                      <a:endParaRPr lang="en-US" sz="1200" cap="none" spc="0" dirty="0">
                        <a:solidFill>
                          <a:schemeClr val="tx1"/>
                        </a:solidFill>
                        <a:latin typeface="Times New Roman" panose="02020603050405020304" pitchFamily="18" charset="0"/>
                        <a:cs typeface="Times New Roman" panose="02020603050405020304" pitchFamily="18" charset="0"/>
                      </a:endParaRPr>
                    </a:p>
                  </a:txBody>
                  <a:tcPr marL="80352" marR="80352" marT="40176" marB="80352"/>
                </a:tc>
                <a:tc>
                  <a:txBody>
                    <a:bodyPr/>
                    <a:lstStyle/>
                    <a:p>
                      <a:pPr lvl="0">
                        <a:buNone/>
                      </a:pPr>
                      <a:r>
                        <a:rPr lang="en-GB" sz="1200" b="0" u="none" strike="noStrike" cap="none" spc="0" noProof="0">
                          <a:solidFill>
                            <a:schemeClr val="tx1"/>
                          </a:solidFill>
                        </a:rPr>
                        <a:t>0.629876</a:t>
                      </a:r>
                      <a:endParaRPr lang="en-US" sz="1200" cap="none" spc="0">
                        <a:solidFill>
                          <a:schemeClr val="tx1"/>
                        </a:solidFill>
                        <a:latin typeface="Times New Roman" panose="02020603050405020304" pitchFamily="18" charset="0"/>
                        <a:cs typeface="Times New Roman" panose="02020603050405020304" pitchFamily="18" charset="0"/>
                      </a:endParaRPr>
                    </a:p>
                  </a:txBody>
                  <a:tcPr marL="80352" marR="80352" marT="40176" marB="80352"/>
                </a:tc>
                <a:extLst>
                  <a:ext uri="{0D108BD9-81ED-4DB2-BD59-A6C34878D82A}">
                    <a16:rowId xmlns:a16="http://schemas.microsoft.com/office/drawing/2014/main" val="3766608864"/>
                  </a:ext>
                </a:extLst>
              </a:tr>
              <a:tr h="366941">
                <a:tc>
                  <a:txBody>
                    <a:bodyPr/>
                    <a:lstStyle/>
                    <a:p>
                      <a:pPr lvl="0">
                        <a:buNone/>
                      </a:pPr>
                      <a:r>
                        <a:rPr lang="en-GB" sz="1200" b="0" u="none" strike="noStrike" cap="none" spc="0" noProof="0" dirty="0">
                          <a:solidFill>
                            <a:schemeClr val="tx1"/>
                          </a:solidFill>
                        </a:rPr>
                        <a:t>CSNK1A1</a:t>
                      </a:r>
                      <a:endParaRPr lang="en-US" sz="1200" cap="none" spc="0" dirty="0">
                        <a:solidFill>
                          <a:schemeClr val="tx1"/>
                        </a:solidFill>
                        <a:latin typeface="Times New Roman" panose="02020603050405020304" pitchFamily="18" charset="0"/>
                        <a:cs typeface="Times New Roman" panose="02020603050405020304" pitchFamily="18" charset="0"/>
                      </a:endParaRPr>
                    </a:p>
                  </a:txBody>
                  <a:tcPr marL="80352" marR="80352" marT="40176" marB="80352"/>
                </a:tc>
                <a:tc>
                  <a:txBody>
                    <a:bodyPr/>
                    <a:lstStyle/>
                    <a:p>
                      <a:pPr lvl="0">
                        <a:buNone/>
                      </a:pPr>
                      <a:r>
                        <a:rPr lang="en-GB" sz="1200" b="0" u="none" strike="noStrike" cap="none" spc="0" noProof="0">
                          <a:solidFill>
                            <a:schemeClr val="tx1"/>
                          </a:solidFill>
                        </a:rPr>
                        <a:t>-0.059070</a:t>
                      </a:r>
                      <a:endParaRPr lang="en-US" sz="1200" cap="none" spc="0">
                        <a:solidFill>
                          <a:schemeClr val="tx1"/>
                        </a:solidFill>
                        <a:latin typeface="Times New Roman" panose="02020603050405020304" pitchFamily="18" charset="0"/>
                        <a:cs typeface="Times New Roman" panose="02020603050405020304" pitchFamily="18" charset="0"/>
                      </a:endParaRPr>
                    </a:p>
                  </a:txBody>
                  <a:tcPr marL="80352" marR="80352" marT="40176" marB="80352"/>
                </a:tc>
                <a:extLst>
                  <a:ext uri="{0D108BD9-81ED-4DB2-BD59-A6C34878D82A}">
                    <a16:rowId xmlns:a16="http://schemas.microsoft.com/office/drawing/2014/main" val="2976265837"/>
                  </a:ext>
                </a:extLst>
              </a:tr>
              <a:tr h="366941">
                <a:tc>
                  <a:txBody>
                    <a:bodyPr/>
                    <a:lstStyle/>
                    <a:p>
                      <a:pPr lvl="0">
                        <a:buNone/>
                      </a:pPr>
                      <a:r>
                        <a:rPr lang="en-GB" sz="1200" b="0" u="none" strike="noStrike" cap="none" spc="0" noProof="0" dirty="0">
                          <a:solidFill>
                            <a:schemeClr val="tx1"/>
                          </a:solidFill>
                        </a:rPr>
                        <a:t>FZD7</a:t>
                      </a:r>
                      <a:endParaRPr lang="en-US" sz="1200" cap="none" spc="0" dirty="0">
                        <a:solidFill>
                          <a:schemeClr val="tx1"/>
                        </a:solidFill>
                        <a:latin typeface="Times New Roman" panose="02020603050405020304" pitchFamily="18" charset="0"/>
                        <a:cs typeface="Times New Roman" panose="02020603050405020304" pitchFamily="18" charset="0"/>
                      </a:endParaRPr>
                    </a:p>
                  </a:txBody>
                  <a:tcPr marL="80352" marR="80352" marT="40176" marB="80352"/>
                </a:tc>
                <a:tc>
                  <a:txBody>
                    <a:bodyPr/>
                    <a:lstStyle/>
                    <a:p>
                      <a:pPr lvl="0">
                        <a:buNone/>
                      </a:pPr>
                      <a:r>
                        <a:rPr lang="en-GB" sz="1200" b="0" u="none" strike="noStrike" cap="none" spc="0" noProof="0">
                          <a:solidFill>
                            <a:schemeClr val="tx1"/>
                          </a:solidFill>
                        </a:rPr>
                        <a:t>-0.071162</a:t>
                      </a:r>
                      <a:endParaRPr lang="en-US" sz="1200" cap="none" spc="0">
                        <a:solidFill>
                          <a:schemeClr val="tx1"/>
                        </a:solidFill>
                        <a:latin typeface="Times New Roman" panose="02020603050405020304" pitchFamily="18" charset="0"/>
                        <a:cs typeface="Times New Roman" panose="02020603050405020304" pitchFamily="18" charset="0"/>
                      </a:endParaRPr>
                    </a:p>
                  </a:txBody>
                  <a:tcPr marL="80352" marR="80352" marT="40176" marB="80352"/>
                </a:tc>
                <a:extLst>
                  <a:ext uri="{0D108BD9-81ED-4DB2-BD59-A6C34878D82A}">
                    <a16:rowId xmlns:a16="http://schemas.microsoft.com/office/drawing/2014/main" val="4079870706"/>
                  </a:ext>
                </a:extLst>
              </a:tr>
              <a:tr h="366941">
                <a:tc>
                  <a:txBody>
                    <a:bodyPr/>
                    <a:lstStyle/>
                    <a:p>
                      <a:pPr lvl="0">
                        <a:buNone/>
                      </a:pPr>
                      <a:r>
                        <a:rPr lang="en-GB" sz="1200" b="0" u="none" strike="noStrike" cap="none" spc="0" noProof="0" dirty="0">
                          <a:solidFill>
                            <a:schemeClr val="tx1"/>
                          </a:solidFill>
                        </a:rPr>
                        <a:t>WNT5A</a:t>
                      </a:r>
                      <a:endParaRPr lang="en-US" sz="1200" cap="none" spc="0" dirty="0">
                        <a:solidFill>
                          <a:schemeClr val="tx1"/>
                        </a:solidFill>
                        <a:latin typeface="Times New Roman" panose="02020603050405020304" pitchFamily="18" charset="0"/>
                        <a:cs typeface="Times New Roman" panose="02020603050405020304" pitchFamily="18" charset="0"/>
                      </a:endParaRPr>
                    </a:p>
                  </a:txBody>
                  <a:tcPr marL="80352" marR="80352" marT="40176" marB="80352"/>
                </a:tc>
                <a:tc>
                  <a:txBody>
                    <a:bodyPr/>
                    <a:lstStyle/>
                    <a:p>
                      <a:pPr lvl="0">
                        <a:buNone/>
                      </a:pPr>
                      <a:r>
                        <a:rPr lang="en-GB" sz="1200" b="0" u="none" strike="noStrike" cap="none" spc="0" noProof="0">
                          <a:solidFill>
                            <a:schemeClr val="tx1"/>
                          </a:solidFill>
                        </a:rPr>
                        <a:t>0.017050</a:t>
                      </a:r>
                      <a:endParaRPr lang="en-US" sz="1200" cap="none" spc="0">
                        <a:solidFill>
                          <a:schemeClr val="tx1"/>
                        </a:solidFill>
                        <a:latin typeface="Times New Roman" panose="02020603050405020304" pitchFamily="18" charset="0"/>
                        <a:cs typeface="Times New Roman" panose="02020603050405020304" pitchFamily="18" charset="0"/>
                      </a:endParaRPr>
                    </a:p>
                  </a:txBody>
                  <a:tcPr marL="80352" marR="80352" marT="40176" marB="80352"/>
                </a:tc>
                <a:extLst>
                  <a:ext uri="{0D108BD9-81ED-4DB2-BD59-A6C34878D82A}">
                    <a16:rowId xmlns:a16="http://schemas.microsoft.com/office/drawing/2014/main" val="3612792175"/>
                  </a:ext>
                </a:extLst>
              </a:tr>
              <a:tr h="366941">
                <a:tc>
                  <a:txBody>
                    <a:bodyPr/>
                    <a:lstStyle/>
                    <a:p>
                      <a:pPr lvl="0">
                        <a:buNone/>
                      </a:pPr>
                      <a:r>
                        <a:rPr lang="en-GB" sz="1200" b="0" u="none" strike="noStrike" cap="none" spc="0" noProof="0">
                          <a:solidFill>
                            <a:schemeClr val="tx1"/>
                          </a:solidFill>
                        </a:rPr>
                        <a:t>IGF1</a:t>
                      </a:r>
                      <a:endParaRPr lang="en-US" sz="1200" cap="none" spc="0">
                        <a:solidFill>
                          <a:schemeClr val="tx1"/>
                        </a:solidFill>
                        <a:latin typeface="Times New Roman" panose="02020603050405020304" pitchFamily="18" charset="0"/>
                        <a:cs typeface="Times New Roman" panose="02020603050405020304" pitchFamily="18" charset="0"/>
                      </a:endParaRPr>
                    </a:p>
                  </a:txBody>
                  <a:tcPr marL="80352" marR="80352" marT="40176" marB="80352"/>
                </a:tc>
                <a:tc>
                  <a:txBody>
                    <a:bodyPr/>
                    <a:lstStyle/>
                    <a:p>
                      <a:pPr lvl="0">
                        <a:buNone/>
                      </a:pPr>
                      <a:r>
                        <a:rPr lang="en-GB" sz="1200" b="0" u="none" strike="noStrike" cap="none" spc="0" noProof="0">
                          <a:solidFill>
                            <a:schemeClr val="tx1"/>
                          </a:solidFill>
                        </a:rPr>
                        <a:t>-0.030359</a:t>
                      </a:r>
                      <a:endParaRPr lang="en-US" sz="1200" cap="none" spc="0">
                        <a:solidFill>
                          <a:schemeClr val="tx1"/>
                        </a:solidFill>
                        <a:latin typeface="Times New Roman" panose="02020603050405020304" pitchFamily="18" charset="0"/>
                        <a:cs typeface="Times New Roman" panose="02020603050405020304" pitchFamily="18" charset="0"/>
                      </a:endParaRPr>
                    </a:p>
                  </a:txBody>
                  <a:tcPr marL="80352" marR="80352" marT="40176" marB="80352"/>
                </a:tc>
                <a:extLst>
                  <a:ext uri="{0D108BD9-81ED-4DB2-BD59-A6C34878D82A}">
                    <a16:rowId xmlns:a16="http://schemas.microsoft.com/office/drawing/2014/main" val="3466388501"/>
                  </a:ext>
                </a:extLst>
              </a:tr>
              <a:tr h="366941">
                <a:tc>
                  <a:txBody>
                    <a:bodyPr/>
                    <a:lstStyle/>
                    <a:p>
                      <a:pPr lvl="0">
                        <a:buNone/>
                      </a:pPr>
                      <a:r>
                        <a:rPr lang="en-GB" sz="1200" b="0" u="none" strike="noStrike" cap="none" spc="0" noProof="0" dirty="0">
                          <a:solidFill>
                            <a:schemeClr val="tx1"/>
                          </a:solidFill>
                        </a:rPr>
                        <a:t>FOS</a:t>
                      </a:r>
                      <a:endParaRPr lang="en-US" sz="1200" cap="none" spc="0" dirty="0">
                        <a:solidFill>
                          <a:schemeClr val="tx1"/>
                        </a:solidFill>
                        <a:latin typeface="Times New Roman" panose="02020603050405020304" pitchFamily="18" charset="0"/>
                        <a:cs typeface="Times New Roman" panose="02020603050405020304" pitchFamily="18" charset="0"/>
                      </a:endParaRPr>
                    </a:p>
                  </a:txBody>
                  <a:tcPr marL="80352" marR="80352" marT="40176" marB="80352"/>
                </a:tc>
                <a:tc>
                  <a:txBody>
                    <a:bodyPr/>
                    <a:lstStyle/>
                    <a:p>
                      <a:pPr lvl="0">
                        <a:buNone/>
                      </a:pPr>
                      <a:r>
                        <a:rPr lang="en-GB" sz="1200" b="0" u="none" strike="noStrike" cap="none" spc="0" noProof="0">
                          <a:solidFill>
                            <a:schemeClr val="tx1"/>
                          </a:solidFill>
                        </a:rPr>
                        <a:t>0.114189</a:t>
                      </a:r>
                      <a:endParaRPr lang="en-US" sz="1200" cap="none" spc="0">
                        <a:solidFill>
                          <a:schemeClr val="tx1"/>
                        </a:solidFill>
                        <a:latin typeface="Times New Roman" panose="02020603050405020304" pitchFamily="18" charset="0"/>
                        <a:cs typeface="Times New Roman" panose="02020603050405020304" pitchFamily="18" charset="0"/>
                      </a:endParaRPr>
                    </a:p>
                  </a:txBody>
                  <a:tcPr marL="80352" marR="80352" marT="40176" marB="80352"/>
                </a:tc>
                <a:extLst>
                  <a:ext uri="{0D108BD9-81ED-4DB2-BD59-A6C34878D82A}">
                    <a16:rowId xmlns:a16="http://schemas.microsoft.com/office/drawing/2014/main" val="3784688151"/>
                  </a:ext>
                </a:extLst>
              </a:tr>
              <a:tr h="366941">
                <a:tc>
                  <a:txBody>
                    <a:bodyPr/>
                    <a:lstStyle/>
                    <a:p>
                      <a:pPr lvl="0">
                        <a:buNone/>
                      </a:pPr>
                      <a:r>
                        <a:rPr lang="en-GB" sz="1200" b="0" u="none" strike="noStrike" cap="none" spc="0" noProof="0" dirty="0">
                          <a:solidFill>
                            <a:schemeClr val="tx1"/>
                          </a:solidFill>
                        </a:rPr>
                        <a:t>ESR1</a:t>
                      </a:r>
                      <a:endParaRPr lang="en-US" sz="1200" cap="none" spc="0" dirty="0">
                        <a:solidFill>
                          <a:schemeClr val="tx1"/>
                        </a:solidFill>
                        <a:latin typeface="Times New Roman" panose="02020603050405020304" pitchFamily="18" charset="0"/>
                        <a:cs typeface="Times New Roman" panose="02020603050405020304" pitchFamily="18" charset="0"/>
                      </a:endParaRPr>
                    </a:p>
                  </a:txBody>
                  <a:tcPr marL="80352" marR="80352" marT="40176" marB="80352"/>
                </a:tc>
                <a:tc>
                  <a:txBody>
                    <a:bodyPr/>
                    <a:lstStyle/>
                    <a:p>
                      <a:pPr lvl="0">
                        <a:buNone/>
                      </a:pPr>
                      <a:r>
                        <a:rPr lang="en-GB" sz="1200" b="0" u="none" strike="noStrike" cap="none" spc="0" noProof="0">
                          <a:solidFill>
                            <a:schemeClr val="tx1"/>
                          </a:solidFill>
                        </a:rPr>
                        <a:t>0.244603</a:t>
                      </a:r>
                      <a:endParaRPr lang="en-US" sz="1200" cap="none" spc="0">
                        <a:solidFill>
                          <a:schemeClr val="tx1"/>
                        </a:solidFill>
                        <a:latin typeface="Times New Roman" panose="02020603050405020304" pitchFamily="18" charset="0"/>
                        <a:cs typeface="Times New Roman" panose="02020603050405020304" pitchFamily="18" charset="0"/>
                      </a:endParaRPr>
                    </a:p>
                  </a:txBody>
                  <a:tcPr marL="80352" marR="80352" marT="40176" marB="80352"/>
                </a:tc>
                <a:extLst>
                  <a:ext uri="{0D108BD9-81ED-4DB2-BD59-A6C34878D82A}">
                    <a16:rowId xmlns:a16="http://schemas.microsoft.com/office/drawing/2014/main" val="1061878103"/>
                  </a:ext>
                </a:extLst>
              </a:tr>
              <a:tr h="366941">
                <a:tc>
                  <a:txBody>
                    <a:bodyPr/>
                    <a:lstStyle/>
                    <a:p>
                      <a:pPr lvl="0">
                        <a:buNone/>
                      </a:pPr>
                      <a:r>
                        <a:rPr lang="en-GB" sz="1200" b="0" u="none" strike="noStrike" cap="none" spc="0" noProof="0" dirty="0">
                          <a:solidFill>
                            <a:schemeClr val="tx1"/>
                          </a:solidFill>
                        </a:rPr>
                        <a:t>CDK4</a:t>
                      </a:r>
                      <a:endParaRPr lang="en-US" sz="1200" cap="none" spc="0" dirty="0">
                        <a:solidFill>
                          <a:schemeClr val="tx1"/>
                        </a:solidFill>
                        <a:latin typeface="Times New Roman" panose="02020603050405020304" pitchFamily="18" charset="0"/>
                        <a:cs typeface="Times New Roman" panose="02020603050405020304" pitchFamily="18" charset="0"/>
                      </a:endParaRPr>
                    </a:p>
                  </a:txBody>
                  <a:tcPr marL="80352" marR="80352" marT="40176" marB="80352"/>
                </a:tc>
                <a:tc>
                  <a:txBody>
                    <a:bodyPr/>
                    <a:lstStyle/>
                    <a:p>
                      <a:pPr lvl="0">
                        <a:buNone/>
                      </a:pPr>
                      <a:r>
                        <a:rPr lang="en-GB" sz="1200" b="0" u="none" strike="noStrike" cap="none" spc="0" noProof="0">
                          <a:solidFill>
                            <a:schemeClr val="tx1"/>
                          </a:solidFill>
                        </a:rPr>
                        <a:t>0.098931</a:t>
                      </a:r>
                      <a:endParaRPr lang="en-US" sz="1200" cap="none" spc="0">
                        <a:solidFill>
                          <a:schemeClr val="tx1"/>
                        </a:solidFill>
                        <a:latin typeface="Times New Roman" panose="02020603050405020304" pitchFamily="18" charset="0"/>
                        <a:cs typeface="Times New Roman" panose="02020603050405020304" pitchFamily="18" charset="0"/>
                      </a:endParaRPr>
                    </a:p>
                  </a:txBody>
                  <a:tcPr marL="80352" marR="80352" marT="40176" marB="80352"/>
                </a:tc>
                <a:extLst>
                  <a:ext uri="{0D108BD9-81ED-4DB2-BD59-A6C34878D82A}">
                    <a16:rowId xmlns:a16="http://schemas.microsoft.com/office/drawing/2014/main" val="2887549461"/>
                  </a:ext>
                </a:extLst>
              </a:tr>
              <a:tr h="366941">
                <a:tc>
                  <a:txBody>
                    <a:bodyPr/>
                    <a:lstStyle/>
                    <a:p>
                      <a:pPr lvl="0">
                        <a:buNone/>
                      </a:pPr>
                      <a:r>
                        <a:rPr lang="en-GB" sz="1200" b="0" u="none" strike="noStrike" cap="none" spc="0" noProof="0" dirty="0">
                          <a:solidFill>
                            <a:schemeClr val="tx1"/>
                          </a:solidFill>
                        </a:rPr>
                        <a:t>FGF18</a:t>
                      </a:r>
                      <a:endParaRPr lang="en-US" sz="1200" cap="none" spc="0" dirty="0">
                        <a:solidFill>
                          <a:schemeClr val="tx1"/>
                        </a:solidFill>
                        <a:latin typeface="Times New Roman" panose="02020603050405020304" pitchFamily="18" charset="0"/>
                        <a:cs typeface="Times New Roman" panose="02020603050405020304" pitchFamily="18" charset="0"/>
                      </a:endParaRPr>
                    </a:p>
                  </a:txBody>
                  <a:tcPr marL="80352" marR="80352" marT="40176" marB="80352"/>
                </a:tc>
                <a:tc>
                  <a:txBody>
                    <a:bodyPr/>
                    <a:lstStyle/>
                    <a:p>
                      <a:pPr lvl="0">
                        <a:buNone/>
                      </a:pPr>
                      <a:r>
                        <a:rPr lang="en-GB" sz="1200" b="0" u="none" strike="noStrike" cap="none" spc="0" noProof="0">
                          <a:solidFill>
                            <a:schemeClr val="tx1"/>
                          </a:solidFill>
                        </a:rPr>
                        <a:t>-0.089761</a:t>
                      </a:r>
                      <a:endParaRPr lang="en-US" sz="1200" cap="none" spc="0">
                        <a:solidFill>
                          <a:schemeClr val="tx1"/>
                        </a:solidFill>
                        <a:latin typeface="Times New Roman" panose="02020603050405020304" pitchFamily="18" charset="0"/>
                        <a:cs typeface="Times New Roman" panose="02020603050405020304" pitchFamily="18" charset="0"/>
                      </a:endParaRPr>
                    </a:p>
                  </a:txBody>
                  <a:tcPr marL="80352" marR="80352" marT="40176" marB="80352"/>
                </a:tc>
                <a:extLst>
                  <a:ext uri="{0D108BD9-81ED-4DB2-BD59-A6C34878D82A}">
                    <a16:rowId xmlns:a16="http://schemas.microsoft.com/office/drawing/2014/main" val="3234137124"/>
                  </a:ext>
                </a:extLst>
              </a:tr>
              <a:tr h="366941">
                <a:tc>
                  <a:txBody>
                    <a:bodyPr/>
                    <a:lstStyle/>
                    <a:p>
                      <a:pPr lvl="0">
                        <a:buNone/>
                      </a:pPr>
                      <a:r>
                        <a:rPr lang="en-GB" sz="1200" b="0" u="none" strike="noStrike" cap="none" spc="0" noProof="0">
                          <a:solidFill>
                            <a:schemeClr val="tx1"/>
                          </a:solidFill>
                        </a:rPr>
                        <a:t>CTNNB1 </a:t>
                      </a:r>
                      <a:endParaRPr lang="en-US" sz="1200" cap="none" spc="0">
                        <a:solidFill>
                          <a:schemeClr val="tx1"/>
                        </a:solidFill>
                        <a:latin typeface="Times New Roman" panose="02020603050405020304" pitchFamily="18" charset="0"/>
                        <a:cs typeface="Times New Roman" panose="02020603050405020304" pitchFamily="18" charset="0"/>
                      </a:endParaRPr>
                    </a:p>
                  </a:txBody>
                  <a:tcPr marL="80352" marR="80352" marT="40176" marB="80352"/>
                </a:tc>
                <a:tc>
                  <a:txBody>
                    <a:bodyPr/>
                    <a:lstStyle/>
                    <a:p>
                      <a:pPr lvl="0">
                        <a:buNone/>
                      </a:pPr>
                      <a:r>
                        <a:rPr lang="en-GB" sz="1200" b="0" u="none" strike="noStrike" cap="none" spc="0" noProof="0" dirty="0">
                          <a:solidFill>
                            <a:schemeClr val="tx1"/>
                          </a:solidFill>
                        </a:rPr>
                        <a:t>-0.103093</a:t>
                      </a:r>
                      <a:endParaRPr lang="en-US" sz="1200" cap="none" spc="0" dirty="0">
                        <a:solidFill>
                          <a:schemeClr val="tx1"/>
                        </a:solidFill>
                        <a:latin typeface="Times New Roman" panose="02020603050405020304" pitchFamily="18" charset="0"/>
                        <a:cs typeface="Times New Roman" panose="02020603050405020304" pitchFamily="18" charset="0"/>
                      </a:endParaRPr>
                    </a:p>
                  </a:txBody>
                  <a:tcPr marL="80352" marR="80352" marT="40176" marB="80352"/>
                </a:tc>
                <a:extLst>
                  <a:ext uri="{0D108BD9-81ED-4DB2-BD59-A6C34878D82A}">
                    <a16:rowId xmlns:a16="http://schemas.microsoft.com/office/drawing/2014/main" val="3692832958"/>
                  </a:ext>
                </a:extLst>
              </a:tr>
              <a:tr h="366941">
                <a:tc>
                  <a:txBody>
                    <a:bodyPr/>
                    <a:lstStyle/>
                    <a:p>
                      <a:pPr lvl="0">
                        <a:buNone/>
                      </a:pPr>
                      <a:r>
                        <a:rPr lang="en-GB" sz="1200" b="0" u="none" strike="noStrike" cap="none" spc="0" noProof="0">
                          <a:solidFill>
                            <a:schemeClr val="tx1"/>
                          </a:solidFill>
                        </a:rPr>
                        <a:t>SOS1</a:t>
                      </a:r>
                      <a:endParaRPr lang="en-US" sz="1200" cap="none" spc="0">
                        <a:solidFill>
                          <a:schemeClr val="tx1"/>
                        </a:solidFill>
                        <a:latin typeface="Times New Roman" panose="02020603050405020304" pitchFamily="18" charset="0"/>
                        <a:cs typeface="Times New Roman" panose="02020603050405020304" pitchFamily="18" charset="0"/>
                      </a:endParaRPr>
                    </a:p>
                  </a:txBody>
                  <a:tcPr marL="80352" marR="80352" marT="40176" marB="80352"/>
                </a:tc>
                <a:tc>
                  <a:txBody>
                    <a:bodyPr/>
                    <a:lstStyle/>
                    <a:p>
                      <a:pPr lvl="0">
                        <a:buNone/>
                      </a:pPr>
                      <a:r>
                        <a:rPr lang="en-GB" sz="1200" b="0" u="none" strike="noStrike" cap="none" spc="0" noProof="0" dirty="0">
                          <a:solidFill>
                            <a:schemeClr val="tx1"/>
                          </a:solidFill>
                        </a:rPr>
                        <a:t>-0.029171</a:t>
                      </a:r>
                      <a:endParaRPr lang="en-US" sz="1200" cap="none" spc="0" dirty="0">
                        <a:solidFill>
                          <a:schemeClr val="tx1"/>
                        </a:solidFill>
                        <a:latin typeface="Times New Roman" panose="02020603050405020304" pitchFamily="18" charset="0"/>
                        <a:cs typeface="Times New Roman" panose="02020603050405020304" pitchFamily="18" charset="0"/>
                      </a:endParaRPr>
                    </a:p>
                  </a:txBody>
                  <a:tcPr marL="80352" marR="80352" marT="40176" marB="80352"/>
                </a:tc>
                <a:extLst>
                  <a:ext uri="{0D108BD9-81ED-4DB2-BD59-A6C34878D82A}">
                    <a16:rowId xmlns:a16="http://schemas.microsoft.com/office/drawing/2014/main" val="1980817143"/>
                  </a:ext>
                </a:extLst>
              </a:tr>
              <a:tr h="366941">
                <a:tc>
                  <a:txBody>
                    <a:bodyPr/>
                    <a:lstStyle/>
                    <a:p>
                      <a:pPr lvl="0">
                        <a:buNone/>
                      </a:pPr>
                      <a:r>
                        <a:rPr lang="en-GB" sz="1200" b="0" u="none" strike="noStrike" cap="none" spc="0" noProof="0">
                          <a:solidFill>
                            <a:schemeClr val="tx1"/>
                          </a:solidFill>
                        </a:rPr>
                        <a:t>FGFR1</a:t>
                      </a:r>
                      <a:endParaRPr lang="en-US" sz="1200" cap="none" spc="0">
                        <a:solidFill>
                          <a:schemeClr val="tx1"/>
                        </a:solidFill>
                        <a:latin typeface="Times New Roman" panose="02020603050405020304" pitchFamily="18" charset="0"/>
                        <a:cs typeface="Times New Roman" panose="02020603050405020304" pitchFamily="18" charset="0"/>
                      </a:endParaRPr>
                    </a:p>
                  </a:txBody>
                  <a:tcPr marL="80352" marR="80352" marT="40176" marB="80352"/>
                </a:tc>
                <a:tc>
                  <a:txBody>
                    <a:bodyPr/>
                    <a:lstStyle/>
                    <a:p>
                      <a:pPr lvl="0">
                        <a:buNone/>
                      </a:pPr>
                      <a:r>
                        <a:rPr lang="en-GB" sz="1200" b="0" u="none" strike="noStrike" cap="none" spc="0" noProof="0" dirty="0">
                          <a:solidFill>
                            <a:schemeClr val="tx1"/>
                          </a:solidFill>
                        </a:rPr>
                        <a:t>-0.147828</a:t>
                      </a:r>
                      <a:endParaRPr lang="en-US" sz="1200" cap="none" spc="0" dirty="0">
                        <a:solidFill>
                          <a:schemeClr val="tx1"/>
                        </a:solidFill>
                        <a:latin typeface="Times New Roman" panose="02020603050405020304" pitchFamily="18" charset="0"/>
                        <a:cs typeface="Times New Roman" panose="02020603050405020304" pitchFamily="18" charset="0"/>
                      </a:endParaRPr>
                    </a:p>
                  </a:txBody>
                  <a:tcPr marL="80352" marR="80352" marT="40176" marB="80352"/>
                </a:tc>
                <a:extLst>
                  <a:ext uri="{0D108BD9-81ED-4DB2-BD59-A6C34878D82A}">
                    <a16:rowId xmlns:a16="http://schemas.microsoft.com/office/drawing/2014/main" val="1953235329"/>
                  </a:ext>
                </a:extLst>
              </a:tr>
            </a:tbl>
          </a:graphicData>
        </a:graphic>
      </p:graphicFrame>
      <p:sp>
        <p:nvSpPr>
          <p:cNvPr id="5" name="Slide Number Placeholder 4">
            <a:extLst>
              <a:ext uri="{FF2B5EF4-FFF2-40B4-BE49-F238E27FC236}">
                <a16:creationId xmlns:a16="http://schemas.microsoft.com/office/drawing/2014/main" id="{D7708B93-0BD2-CC6C-3615-CCA7DB3551FE}"/>
              </a:ext>
            </a:extLst>
          </p:cNvPr>
          <p:cNvSpPr>
            <a:spLocks noGrp="1"/>
          </p:cNvSpPr>
          <p:nvPr>
            <p:ph type="sldNum" sz="quarter" idx="12"/>
          </p:nvPr>
        </p:nvSpPr>
        <p:spPr/>
        <p:txBody>
          <a:bodyPr/>
          <a:lstStyle/>
          <a:p>
            <a:fld id="{330EA680-D336-4FF7-8B7A-9848BB0A1C32}" type="slidenum">
              <a:rPr lang="en-GB" smtClean="0"/>
              <a:t>15</a:t>
            </a:fld>
            <a:endParaRPr lang="en-GB"/>
          </a:p>
        </p:txBody>
      </p:sp>
    </p:spTree>
    <p:extLst>
      <p:ext uri="{BB962C8B-B14F-4D97-AF65-F5344CB8AC3E}">
        <p14:creationId xmlns:p14="http://schemas.microsoft.com/office/powerpoint/2010/main" val="2161083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E3E548-AB3B-6FCA-E557-ADDE621E3B4A}"/>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b="1" kern="1200">
                <a:solidFill>
                  <a:schemeClr val="tx2"/>
                </a:solidFill>
                <a:latin typeface="+mj-lt"/>
                <a:ea typeface="+mj-ea"/>
                <a:cs typeface="+mj-cs"/>
              </a:rPr>
              <a:t>Discussion</a:t>
            </a:r>
          </a:p>
        </p:txBody>
      </p:sp>
      <p:pic>
        <p:nvPicPr>
          <p:cNvPr id="8" name="Graphic 7" descr="Chat">
            <a:extLst>
              <a:ext uri="{FF2B5EF4-FFF2-40B4-BE49-F238E27FC236}">
                <a16:creationId xmlns:a16="http://schemas.microsoft.com/office/drawing/2014/main" id="{040F5E17-9DFF-8D47-4998-5FD18C532D8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5" name="Group 14">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6" name="Freeform: Shape 15">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Slide Number Placeholder 3">
            <a:extLst>
              <a:ext uri="{FF2B5EF4-FFF2-40B4-BE49-F238E27FC236}">
                <a16:creationId xmlns:a16="http://schemas.microsoft.com/office/drawing/2014/main" id="{0548EDDC-602E-1471-772F-B58188DF1F7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330EA680-D336-4FF7-8B7A-9848BB0A1C32}" type="slidenum">
              <a:rPr lang="en-US" smtClean="0">
                <a:solidFill>
                  <a:schemeClr val="tx1">
                    <a:tint val="75000"/>
                  </a:schemeClr>
                </a:solidFill>
              </a:rPr>
              <a:pPr>
                <a:spcAft>
                  <a:spcPts val="600"/>
                </a:spcAft>
              </a:pPr>
              <a:t>16</a:t>
            </a:fld>
            <a:endParaRPr lang="en-US">
              <a:solidFill>
                <a:schemeClr val="tx1">
                  <a:tint val="75000"/>
                </a:schemeClr>
              </a:solidFill>
            </a:endParaRPr>
          </a:p>
        </p:txBody>
      </p:sp>
    </p:spTree>
    <p:extLst>
      <p:ext uri="{BB962C8B-B14F-4D97-AF65-F5344CB8AC3E}">
        <p14:creationId xmlns:p14="http://schemas.microsoft.com/office/powerpoint/2010/main" val="268929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Isosceles Triangle 2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Isosceles Triangle 2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57F79528-4DBD-3FCB-F944-979CC3CA40AC}"/>
              </a:ext>
            </a:extLst>
          </p:cNvPr>
          <p:cNvGraphicFramePr>
            <a:graphicFrameLocks noGrp="1"/>
          </p:cNvGraphicFramePr>
          <p:nvPr>
            <p:extLst>
              <p:ext uri="{D42A27DB-BD31-4B8C-83A1-F6EECF244321}">
                <p14:modId xmlns:p14="http://schemas.microsoft.com/office/powerpoint/2010/main" val="3782765410"/>
              </p:ext>
            </p:extLst>
          </p:nvPr>
        </p:nvGraphicFramePr>
        <p:xfrm>
          <a:off x="991572" y="1201175"/>
          <a:ext cx="10442448" cy="4982659"/>
        </p:xfrm>
        <a:graphic>
          <a:graphicData uri="http://schemas.openxmlformats.org/drawingml/2006/table">
            <a:tbl>
              <a:tblPr firstRow="1" firstCol="1" bandRow="1">
                <a:tableStyleId>{5C22544A-7EE6-4342-B048-85BDC9FD1C3A}</a:tableStyleId>
              </a:tblPr>
              <a:tblGrid>
                <a:gridCol w="1552942">
                  <a:extLst>
                    <a:ext uri="{9D8B030D-6E8A-4147-A177-3AD203B41FA5}">
                      <a16:colId xmlns:a16="http://schemas.microsoft.com/office/drawing/2014/main" val="979104067"/>
                    </a:ext>
                  </a:extLst>
                </a:gridCol>
                <a:gridCol w="8889506">
                  <a:extLst>
                    <a:ext uri="{9D8B030D-6E8A-4147-A177-3AD203B41FA5}">
                      <a16:colId xmlns:a16="http://schemas.microsoft.com/office/drawing/2014/main" val="3194916161"/>
                    </a:ext>
                  </a:extLst>
                </a:gridCol>
              </a:tblGrid>
              <a:tr h="254147">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Gene</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Description</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extLst>
                  <a:ext uri="{0D108BD9-81ED-4DB2-BD59-A6C34878D82A}">
                    <a16:rowId xmlns:a16="http://schemas.microsoft.com/office/drawing/2014/main" val="3184943030"/>
                  </a:ext>
                </a:extLst>
              </a:tr>
              <a:tr h="703009">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CDK4</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tc>
                  <a:txBody>
                    <a:bodyPr/>
                    <a:lstStyle/>
                    <a:p>
                      <a:pPr>
                        <a:lnSpc>
                          <a:spcPct val="115000"/>
                        </a:lnSpc>
                        <a:spcAft>
                          <a:spcPts val="800"/>
                        </a:spcAft>
                        <a:buNone/>
                      </a:pPr>
                      <a:r>
                        <a:rPr lang="en-PK" sz="1200" kern="100" dirty="0">
                          <a:effectLst/>
                          <a:latin typeface="Times New Roman" panose="02020603050405020304" pitchFamily="18" charset="0"/>
                          <a:cs typeface="Times New Roman" panose="02020603050405020304" pitchFamily="18" charset="0"/>
                        </a:rPr>
                        <a:t>CDK4 is a cell cycle regulator. Its upregulation promotes uncontrolled cell division by allowing cells to pass through the G1/S checkpoint, contributing to </a:t>
                      </a:r>
                      <a:r>
                        <a:rPr lang="en-PK" sz="1200" kern="100" dirty="0" err="1">
                          <a:effectLst/>
                          <a:latin typeface="Times New Roman" panose="02020603050405020304" pitchFamily="18" charset="0"/>
                          <a:cs typeface="Times New Roman" panose="02020603050405020304" pitchFamily="18" charset="0"/>
                        </a:rPr>
                        <a:t>tumor</a:t>
                      </a:r>
                      <a:r>
                        <a:rPr lang="en-PK" sz="1200" kern="100" dirty="0">
                          <a:effectLst/>
                          <a:latin typeface="Times New Roman" panose="02020603050405020304" pitchFamily="18" charset="0"/>
                          <a:cs typeface="Times New Roman" panose="02020603050405020304" pitchFamily="18" charset="0"/>
                        </a:rPr>
                        <a:t> growth. This explains why CDK4/6 inhibitors are effective in breast cancer treatment.</a:t>
                      </a:r>
                      <a:endParaRPr lang="en-PK"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extLst>
                  <a:ext uri="{0D108BD9-81ED-4DB2-BD59-A6C34878D82A}">
                    <a16:rowId xmlns:a16="http://schemas.microsoft.com/office/drawing/2014/main" val="2652077508"/>
                  </a:ext>
                </a:extLst>
              </a:tr>
              <a:tr h="451020">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FGF18</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tc>
                  <a:txBody>
                    <a:bodyPr/>
                    <a:lstStyle/>
                    <a:p>
                      <a:pPr>
                        <a:lnSpc>
                          <a:spcPct val="115000"/>
                        </a:lnSpc>
                        <a:spcAft>
                          <a:spcPts val="800"/>
                        </a:spcAft>
                        <a:buNone/>
                      </a:pPr>
                      <a:r>
                        <a:rPr lang="en-PK" sz="1200" kern="100" dirty="0">
                          <a:effectLst/>
                          <a:latin typeface="Times New Roman" panose="02020603050405020304" pitchFamily="18" charset="0"/>
                          <a:cs typeface="Times New Roman" panose="02020603050405020304" pitchFamily="18" charset="0"/>
                        </a:rPr>
                        <a:t>FGF18 is part of the fibroblast growth factor family that normally drives cell growth and angiogenesis. Here it is slightly downregulated, suggesting that these cancer samples may not depend heavily on FGF18 for progression.</a:t>
                      </a:r>
                      <a:endParaRPr lang="en-PK"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extLst>
                  <a:ext uri="{0D108BD9-81ED-4DB2-BD59-A6C34878D82A}">
                    <a16:rowId xmlns:a16="http://schemas.microsoft.com/office/drawing/2014/main" val="3977533431"/>
                  </a:ext>
                </a:extLst>
              </a:tr>
              <a:tr h="703009">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CTNNB1</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tc>
                  <a:txBody>
                    <a:bodyPr/>
                    <a:lstStyle/>
                    <a:p>
                      <a:pPr>
                        <a:lnSpc>
                          <a:spcPct val="115000"/>
                        </a:lnSpc>
                        <a:spcAft>
                          <a:spcPts val="800"/>
                        </a:spcAft>
                        <a:buNone/>
                      </a:pPr>
                      <a:r>
                        <a:rPr lang="en-PK" sz="1200" kern="100" dirty="0">
                          <a:effectLst/>
                          <a:latin typeface="Times New Roman" panose="02020603050405020304" pitchFamily="18" charset="0"/>
                          <a:cs typeface="Times New Roman" panose="02020603050405020304" pitchFamily="18" charset="0"/>
                        </a:rPr>
                        <a:t>CTNNB1 encodes β-catenin, a key player in the </a:t>
                      </a:r>
                      <a:r>
                        <a:rPr lang="en-PK" sz="1200" kern="100" dirty="0" err="1">
                          <a:effectLst/>
                          <a:latin typeface="Times New Roman" panose="02020603050405020304" pitchFamily="18" charset="0"/>
                          <a:cs typeface="Times New Roman" panose="02020603050405020304" pitchFamily="18" charset="0"/>
                        </a:rPr>
                        <a:t>Wnt</a:t>
                      </a:r>
                      <a:r>
                        <a:rPr lang="en-PK" sz="1200" kern="100" dirty="0">
                          <a:effectLst/>
                          <a:latin typeface="Times New Roman" panose="02020603050405020304" pitchFamily="18" charset="0"/>
                          <a:cs typeface="Times New Roman" panose="02020603050405020304" pitchFamily="18" charset="0"/>
                        </a:rPr>
                        <a:t> pathway. Its downregulation may indicate reduced β-catenin activity, but since other </a:t>
                      </a:r>
                      <a:r>
                        <a:rPr lang="en-PK" sz="1200" kern="100" dirty="0" err="1">
                          <a:effectLst/>
                          <a:latin typeface="Times New Roman" panose="02020603050405020304" pitchFamily="18" charset="0"/>
                          <a:cs typeface="Times New Roman" panose="02020603050405020304" pitchFamily="18" charset="0"/>
                        </a:rPr>
                        <a:t>Wnt</a:t>
                      </a:r>
                      <a:r>
                        <a:rPr lang="en-PK" sz="1200" kern="100" dirty="0">
                          <a:effectLst/>
                          <a:latin typeface="Times New Roman" panose="02020603050405020304" pitchFamily="18" charset="0"/>
                          <a:cs typeface="Times New Roman" panose="02020603050405020304" pitchFamily="18" charset="0"/>
                        </a:rPr>
                        <a:t> genes are up, the pathway overall still appears active. This balance influences </a:t>
                      </a:r>
                      <a:r>
                        <a:rPr lang="en-PK" sz="1200" kern="100" dirty="0" err="1">
                          <a:effectLst/>
                          <a:latin typeface="Times New Roman" panose="02020603050405020304" pitchFamily="18" charset="0"/>
                          <a:cs typeface="Times New Roman" panose="02020603050405020304" pitchFamily="18" charset="0"/>
                        </a:rPr>
                        <a:t>tumor</a:t>
                      </a:r>
                      <a:r>
                        <a:rPr lang="en-PK" sz="1200" kern="100" dirty="0">
                          <a:effectLst/>
                          <a:latin typeface="Times New Roman" panose="02020603050405020304" pitchFamily="18" charset="0"/>
                          <a:cs typeface="Times New Roman" panose="02020603050405020304" pitchFamily="18" charset="0"/>
                        </a:rPr>
                        <a:t> invasion and survival.</a:t>
                      </a:r>
                      <a:endParaRPr lang="en-PK"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extLst>
                  <a:ext uri="{0D108BD9-81ED-4DB2-BD59-A6C34878D82A}">
                    <a16:rowId xmlns:a16="http://schemas.microsoft.com/office/drawing/2014/main" val="4245617101"/>
                  </a:ext>
                </a:extLst>
              </a:tr>
              <a:tr h="478579">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SOS1</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SOS1 links receptor tyrosine kinases to the RAS/MAPK pathway. Its slight downregulation suggests weaker activation of this growth pathway in these samples.</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extLst>
                  <a:ext uri="{0D108BD9-81ED-4DB2-BD59-A6C34878D82A}">
                    <a16:rowId xmlns:a16="http://schemas.microsoft.com/office/drawing/2014/main" val="1741864238"/>
                  </a:ext>
                </a:extLst>
              </a:tr>
              <a:tr h="478579">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FGFR1</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FGFR1 is a receptor for fibroblast growth factors. Normally, its amplification drives aggressive tumors, but its downregulation here suggests it is not a major driver in these breast cancer samples.</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extLst>
                  <a:ext uri="{0D108BD9-81ED-4DB2-BD59-A6C34878D82A}">
                    <a16:rowId xmlns:a16="http://schemas.microsoft.com/office/drawing/2014/main" val="2939826909"/>
                  </a:ext>
                </a:extLst>
              </a:tr>
              <a:tr h="478579">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FZD5</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FZD5 is a receptor in the Wnt pathway. Its downregulation suggests it plays a smaller role in Wnt signaling here, compared to other Frizzled receptors like FZD4.</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extLst>
                  <a:ext uri="{0D108BD9-81ED-4DB2-BD59-A6C34878D82A}">
                    <a16:rowId xmlns:a16="http://schemas.microsoft.com/office/drawing/2014/main" val="1895825819"/>
                  </a:ext>
                </a:extLst>
              </a:tr>
              <a:tr h="478579">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FZD4</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FZD4 is strongly upregulated, showing very active Wnt signaling. This promotes stemness, tumor progression, and therapy resistance, making it a key gene in this dataset.</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extLst>
                  <a:ext uri="{0D108BD9-81ED-4DB2-BD59-A6C34878D82A}">
                    <a16:rowId xmlns:a16="http://schemas.microsoft.com/office/drawing/2014/main" val="224033229"/>
                  </a:ext>
                </a:extLst>
              </a:tr>
              <a:tr h="478579">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CSNK1A1</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CSNK1A1 is a kinase that regulates β-catenin stability in Wnt signaling. Its slight downregulation may alter Wnt signaling balance, influencing cancer cell survival.</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extLst>
                  <a:ext uri="{0D108BD9-81ED-4DB2-BD59-A6C34878D82A}">
                    <a16:rowId xmlns:a16="http://schemas.microsoft.com/office/drawing/2014/main" val="1600541111"/>
                  </a:ext>
                </a:extLst>
              </a:tr>
              <a:tr h="478579">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FZD7</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tc>
                  <a:txBody>
                    <a:bodyPr/>
                    <a:lstStyle/>
                    <a:p>
                      <a:pPr>
                        <a:lnSpc>
                          <a:spcPct val="115000"/>
                        </a:lnSpc>
                        <a:spcAft>
                          <a:spcPts val="800"/>
                        </a:spcAft>
                        <a:buNone/>
                      </a:pPr>
                      <a:r>
                        <a:rPr lang="en-PK" sz="1200" kern="100" dirty="0">
                          <a:effectLst/>
                          <a:latin typeface="Times New Roman" panose="02020603050405020304" pitchFamily="18" charset="0"/>
                          <a:cs typeface="Times New Roman" panose="02020603050405020304" pitchFamily="18" charset="0"/>
                        </a:rPr>
                        <a:t>FZD7 is another </a:t>
                      </a:r>
                      <a:r>
                        <a:rPr lang="en-PK" sz="1200" kern="100" dirty="0" err="1">
                          <a:effectLst/>
                          <a:latin typeface="Times New Roman" panose="02020603050405020304" pitchFamily="18" charset="0"/>
                          <a:cs typeface="Times New Roman" panose="02020603050405020304" pitchFamily="18" charset="0"/>
                        </a:rPr>
                        <a:t>Wnt</a:t>
                      </a:r>
                      <a:r>
                        <a:rPr lang="en-PK" sz="1200" kern="100" dirty="0">
                          <a:effectLst/>
                          <a:latin typeface="Times New Roman" panose="02020603050405020304" pitchFamily="18" charset="0"/>
                          <a:cs typeface="Times New Roman" panose="02020603050405020304" pitchFamily="18" charset="0"/>
                        </a:rPr>
                        <a:t> receptor. Its downregulation suggests it is not the dominant </a:t>
                      </a:r>
                      <a:r>
                        <a:rPr lang="en-PK" sz="1200" kern="100" dirty="0" err="1">
                          <a:effectLst/>
                          <a:latin typeface="Times New Roman" panose="02020603050405020304" pitchFamily="18" charset="0"/>
                          <a:cs typeface="Times New Roman" panose="02020603050405020304" pitchFamily="18" charset="0"/>
                        </a:rPr>
                        <a:t>Wnt</a:t>
                      </a:r>
                      <a:r>
                        <a:rPr lang="en-PK" sz="1200" kern="100" dirty="0">
                          <a:effectLst/>
                          <a:latin typeface="Times New Roman" panose="02020603050405020304" pitchFamily="18" charset="0"/>
                          <a:cs typeface="Times New Roman" panose="02020603050405020304" pitchFamily="18" charset="0"/>
                        </a:rPr>
                        <a:t> activator here, unlike FZD4 which is strongly up.</a:t>
                      </a:r>
                      <a:endParaRPr lang="en-PK"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73667" marR="73667" marT="0" marB="0"/>
                </a:tc>
                <a:extLst>
                  <a:ext uri="{0D108BD9-81ED-4DB2-BD59-A6C34878D82A}">
                    <a16:rowId xmlns:a16="http://schemas.microsoft.com/office/drawing/2014/main" val="3916857213"/>
                  </a:ext>
                </a:extLst>
              </a:tr>
            </a:tbl>
          </a:graphicData>
        </a:graphic>
      </p:graphicFrame>
      <p:sp>
        <p:nvSpPr>
          <p:cNvPr id="3" name="Slide Number Placeholder 2">
            <a:extLst>
              <a:ext uri="{FF2B5EF4-FFF2-40B4-BE49-F238E27FC236}">
                <a16:creationId xmlns:a16="http://schemas.microsoft.com/office/drawing/2014/main" id="{7B2FB0BF-B157-F8B7-53EF-035D6264C647}"/>
              </a:ext>
            </a:extLst>
          </p:cNvPr>
          <p:cNvSpPr>
            <a:spLocks noGrp="1"/>
          </p:cNvSpPr>
          <p:nvPr>
            <p:ph type="sldNum" sz="quarter" idx="12"/>
          </p:nvPr>
        </p:nvSpPr>
        <p:spPr/>
        <p:txBody>
          <a:bodyPr/>
          <a:lstStyle/>
          <a:p>
            <a:fld id="{330EA680-D336-4FF7-8B7A-9848BB0A1C32}" type="slidenum">
              <a:rPr lang="en-GB" smtClean="0"/>
              <a:t>17</a:t>
            </a:fld>
            <a:endParaRPr lang="en-GB"/>
          </a:p>
        </p:txBody>
      </p:sp>
    </p:spTree>
    <p:extLst>
      <p:ext uri="{BB962C8B-B14F-4D97-AF65-F5344CB8AC3E}">
        <p14:creationId xmlns:p14="http://schemas.microsoft.com/office/powerpoint/2010/main" val="1474663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31CC7B12-5ADA-9B8E-5BB1-5AA0D3D27D8E}"/>
              </a:ext>
            </a:extLst>
          </p:cNvPr>
          <p:cNvGraphicFramePr>
            <a:graphicFrameLocks noGrp="1"/>
          </p:cNvGraphicFramePr>
          <p:nvPr>
            <p:extLst>
              <p:ext uri="{D42A27DB-BD31-4B8C-83A1-F6EECF244321}">
                <p14:modId xmlns:p14="http://schemas.microsoft.com/office/powerpoint/2010/main" val="3459724036"/>
              </p:ext>
            </p:extLst>
          </p:nvPr>
        </p:nvGraphicFramePr>
        <p:xfrm>
          <a:off x="835491" y="1371790"/>
          <a:ext cx="10905067" cy="4464049"/>
        </p:xfrm>
        <a:graphic>
          <a:graphicData uri="http://schemas.openxmlformats.org/drawingml/2006/table">
            <a:tbl>
              <a:tblPr firstRow="1" firstCol="1" bandRow="1">
                <a:tableStyleId>{5C22544A-7EE6-4342-B048-85BDC9FD1C3A}</a:tableStyleId>
              </a:tblPr>
              <a:tblGrid>
                <a:gridCol w="1484810">
                  <a:extLst>
                    <a:ext uri="{9D8B030D-6E8A-4147-A177-3AD203B41FA5}">
                      <a16:colId xmlns:a16="http://schemas.microsoft.com/office/drawing/2014/main" val="1306928761"/>
                    </a:ext>
                  </a:extLst>
                </a:gridCol>
                <a:gridCol w="9420257">
                  <a:extLst>
                    <a:ext uri="{9D8B030D-6E8A-4147-A177-3AD203B41FA5}">
                      <a16:colId xmlns:a16="http://schemas.microsoft.com/office/drawing/2014/main" val="3190180333"/>
                    </a:ext>
                  </a:extLst>
                </a:gridCol>
              </a:tblGrid>
              <a:tr h="303124">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Gene</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tc>
                  <a:txBody>
                    <a:bodyPr/>
                    <a:lstStyle/>
                    <a:p>
                      <a:pPr>
                        <a:lnSpc>
                          <a:spcPct val="115000"/>
                        </a:lnSpc>
                        <a:spcAft>
                          <a:spcPts val="800"/>
                        </a:spcAft>
                        <a:buNone/>
                      </a:pPr>
                      <a:r>
                        <a:rPr lang="en-PK" sz="1200" kern="100" dirty="0">
                          <a:effectLst/>
                          <a:latin typeface="Times New Roman" panose="02020603050405020304" pitchFamily="18" charset="0"/>
                          <a:cs typeface="Times New Roman" panose="02020603050405020304" pitchFamily="18" charset="0"/>
                        </a:rPr>
                        <a:t>Description</a:t>
                      </a:r>
                      <a:endParaRPr lang="en-PK"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extLst>
                  <a:ext uri="{0D108BD9-81ED-4DB2-BD59-A6C34878D82A}">
                    <a16:rowId xmlns:a16="http://schemas.microsoft.com/office/drawing/2014/main" val="48580220"/>
                  </a:ext>
                </a:extLst>
              </a:tr>
              <a:tr h="376773">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WNT5A</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WNT5A is a Wnt ligand. Its slight upregulation suggests some contribution to non-canonical Wnt signaling, which supports invasion and metastasis.</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extLst>
                  <a:ext uri="{0D108BD9-81ED-4DB2-BD59-A6C34878D82A}">
                    <a16:rowId xmlns:a16="http://schemas.microsoft.com/office/drawing/2014/main" val="1906587510"/>
                  </a:ext>
                </a:extLst>
              </a:tr>
              <a:tr h="466344">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IGF1</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tc>
                  <a:txBody>
                    <a:bodyPr/>
                    <a:lstStyle/>
                    <a:p>
                      <a:pPr>
                        <a:lnSpc>
                          <a:spcPct val="115000"/>
                        </a:lnSpc>
                        <a:spcAft>
                          <a:spcPts val="800"/>
                        </a:spcAft>
                        <a:buNone/>
                      </a:pPr>
                      <a:r>
                        <a:rPr lang="en-PK" sz="1200" kern="100" dirty="0">
                          <a:effectLst/>
                          <a:latin typeface="Times New Roman" panose="02020603050405020304" pitchFamily="18" charset="0"/>
                          <a:cs typeface="Times New Roman" panose="02020603050405020304" pitchFamily="18" charset="0"/>
                        </a:rPr>
                        <a:t>IGF1 normally stimulates growth through IGF1R. Its downregulation suggests reduced ligand-driven </a:t>
                      </a:r>
                      <a:r>
                        <a:rPr lang="en-PK" sz="1200" kern="100" dirty="0" err="1">
                          <a:effectLst/>
                          <a:latin typeface="Times New Roman" panose="02020603050405020304" pitchFamily="18" charset="0"/>
                          <a:cs typeface="Times New Roman" panose="02020603050405020304" pitchFamily="18" charset="0"/>
                        </a:rPr>
                        <a:t>signaling</a:t>
                      </a:r>
                      <a:r>
                        <a:rPr lang="en-PK" sz="1200" kern="100" dirty="0">
                          <a:effectLst/>
                          <a:latin typeface="Times New Roman" panose="02020603050405020304" pitchFamily="18" charset="0"/>
                          <a:cs typeface="Times New Roman" panose="02020603050405020304" pitchFamily="18" charset="0"/>
                        </a:rPr>
                        <a:t>, though IGF1R itself is slightly upregulated.</a:t>
                      </a:r>
                      <a:endParaRPr lang="en-PK"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extLst>
                  <a:ext uri="{0D108BD9-81ED-4DB2-BD59-A6C34878D82A}">
                    <a16:rowId xmlns:a16="http://schemas.microsoft.com/office/drawing/2014/main" val="1547711091"/>
                  </a:ext>
                </a:extLst>
              </a:tr>
              <a:tr h="420624">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FOS</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tc>
                  <a:txBody>
                    <a:bodyPr/>
                    <a:lstStyle/>
                    <a:p>
                      <a:pPr>
                        <a:lnSpc>
                          <a:spcPct val="115000"/>
                        </a:lnSpc>
                        <a:spcAft>
                          <a:spcPts val="800"/>
                        </a:spcAft>
                        <a:buNone/>
                      </a:pPr>
                      <a:r>
                        <a:rPr lang="en-PK" sz="1200" kern="100" dirty="0">
                          <a:effectLst/>
                          <a:latin typeface="Times New Roman" panose="02020603050405020304" pitchFamily="18" charset="0"/>
                          <a:cs typeface="Times New Roman" panose="02020603050405020304" pitchFamily="18" charset="0"/>
                        </a:rPr>
                        <a:t>FOS is part of the AP-1 transcription factor. Its upregulation supports estrogen </a:t>
                      </a:r>
                      <a:r>
                        <a:rPr lang="en-PK" sz="1200" kern="100" dirty="0" err="1">
                          <a:effectLst/>
                          <a:latin typeface="Times New Roman" panose="02020603050405020304" pitchFamily="18" charset="0"/>
                          <a:cs typeface="Times New Roman" panose="02020603050405020304" pitchFamily="18" charset="0"/>
                        </a:rPr>
                        <a:t>signaling</a:t>
                      </a:r>
                      <a:r>
                        <a:rPr lang="en-PK" sz="1200" kern="100" dirty="0">
                          <a:effectLst/>
                          <a:latin typeface="Times New Roman" panose="02020603050405020304" pitchFamily="18" charset="0"/>
                          <a:cs typeface="Times New Roman" panose="02020603050405020304" pitchFamily="18" charset="0"/>
                        </a:rPr>
                        <a:t> and drives cancer cell growth and invasion.</a:t>
                      </a:r>
                      <a:endParaRPr lang="en-PK"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extLst>
                  <a:ext uri="{0D108BD9-81ED-4DB2-BD59-A6C34878D82A}">
                    <a16:rowId xmlns:a16="http://schemas.microsoft.com/office/drawing/2014/main" val="3189375602"/>
                  </a:ext>
                </a:extLst>
              </a:tr>
              <a:tr h="457200">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ESR1</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ESR1 encodes the estrogen receptor alpha (ERα). Its upregulation confirms that these breast cancers are estrogen-dependent, typical of luminal subtypes.</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extLst>
                  <a:ext uri="{0D108BD9-81ED-4DB2-BD59-A6C34878D82A}">
                    <a16:rowId xmlns:a16="http://schemas.microsoft.com/office/drawing/2014/main" val="878655898"/>
                  </a:ext>
                </a:extLst>
              </a:tr>
              <a:tr h="574608">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ERBB2</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ERBB2 (HER2) is normally amplified in HER2+ cancers. Its downregulation here indicates these cancers are not HER2-driven, possibly luminal or basal-like subtypes.</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extLst>
                  <a:ext uri="{0D108BD9-81ED-4DB2-BD59-A6C34878D82A}">
                    <a16:rowId xmlns:a16="http://schemas.microsoft.com/office/drawing/2014/main" val="3323004792"/>
                  </a:ext>
                </a:extLst>
              </a:tr>
              <a:tr h="513528">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E2F3</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E2F3 controls cell cycle gene expression. Its downregulation may reduce E2F-driven proliferation, but other cell cycle pathways are active, such as CDK4 upregulation.</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extLst>
                  <a:ext uri="{0D108BD9-81ED-4DB2-BD59-A6C34878D82A}">
                    <a16:rowId xmlns:a16="http://schemas.microsoft.com/office/drawing/2014/main" val="1197294172"/>
                  </a:ext>
                </a:extLst>
              </a:tr>
              <a:tr h="347472">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HES1</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HES1 is a transcription factor in the Notch pathway. Its upregulation helps maintain cancer stem-like properties and therapy resistance.</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extLst>
                  <a:ext uri="{0D108BD9-81ED-4DB2-BD59-A6C34878D82A}">
                    <a16:rowId xmlns:a16="http://schemas.microsoft.com/office/drawing/2014/main" val="2536444803"/>
                  </a:ext>
                </a:extLst>
              </a:tr>
              <a:tr h="429768">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FZD1</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FZD1 is a Wnt receptor. Its downregulation indicates it is not strongly contributing to Wnt signaling in these samples.</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extLst>
                  <a:ext uri="{0D108BD9-81ED-4DB2-BD59-A6C34878D82A}">
                    <a16:rowId xmlns:a16="http://schemas.microsoft.com/office/drawing/2014/main" val="907563459"/>
                  </a:ext>
                </a:extLst>
              </a:tr>
              <a:tr h="574608">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JUN</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tc>
                  <a:txBody>
                    <a:bodyPr/>
                    <a:lstStyle/>
                    <a:p>
                      <a:pPr>
                        <a:lnSpc>
                          <a:spcPct val="115000"/>
                        </a:lnSpc>
                        <a:spcAft>
                          <a:spcPts val="800"/>
                        </a:spcAft>
                        <a:buNone/>
                      </a:pPr>
                      <a:r>
                        <a:rPr lang="en-PK" sz="1200" kern="100" dirty="0">
                          <a:effectLst/>
                          <a:latin typeface="Times New Roman" panose="02020603050405020304" pitchFamily="18" charset="0"/>
                          <a:cs typeface="Times New Roman" panose="02020603050405020304" pitchFamily="18" charset="0"/>
                        </a:rPr>
                        <a:t>JUN, along with FOS, forms the AP-1 complex. Its upregulation drives transcription of genes involved in proliferation and survival.</a:t>
                      </a:r>
                      <a:endParaRPr lang="en-PK"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88527" marR="88527" marT="0" marB="0"/>
                </a:tc>
                <a:extLst>
                  <a:ext uri="{0D108BD9-81ED-4DB2-BD59-A6C34878D82A}">
                    <a16:rowId xmlns:a16="http://schemas.microsoft.com/office/drawing/2014/main" val="3149934903"/>
                  </a:ext>
                </a:extLst>
              </a:tr>
            </a:tbl>
          </a:graphicData>
        </a:graphic>
      </p:graphicFrame>
      <p:sp>
        <p:nvSpPr>
          <p:cNvPr id="4" name="Slide Number Placeholder 3">
            <a:extLst>
              <a:ext uri="{FF2B5EF4-FFF2-40B4-BE49-F238E27FC236}">
                <a16:creationId xmlns:a16="http://schemas.microsoft.com/office/drawing/2014/main" id="{8413981D-4986-4434-45AC-6EBB29BDF669}"/>
              </a:ext>
            </a:extLst>
          </p:cNvPr>
          <p:cNvSpPr>
            <a:spLocks noGrp="1"/>
          </p:cNvSpPr>
          <p:nvPr>
            <p:ph type="sldNum" sz="quarter" idx="12"/>
          </p:nvPr>
        </p:nvSpPr>
        <p:spPr/>
        <p:txBody>
          <a:bodyPr/>
          <a:lstStyle/>
          <a:p>
            <a:fld id="{330EA680-D336-4FF7-8B7A-9848BB0A1C32}" type="slidenum">
              <a:rPr lang="en-GB" smtClean="0"/>
              <a:t>18</a:t>
            </a:fld>
            <a:endParaRPr lang="en-GB"/>
          </a:p>
        </p:txBody>
      </p:sp>
    </p:spTree>
    <p:extLst>
      <p:ext uri="{BB962C8B-B14F-4D97-AF65-F5344CB8AC3E}">
        <p14:creationId xmlns:p14="http://schemas.microsoft.com/office/powerpoint/2010/main" val="1037487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DB1619E-91B3-71FC-0B08-4D76ED8237E9}"/>
              </a:ext>
            </a:extLst>
          </p:cNvPr>
          <p:cNvGraphicFramePr>
            <a:graphicFrameLocks noGrp="1"/>
          </p:cNvGraphicFramePr>
          <p:nvPr>
            <p:extLst>
              <p:ext uri="{D42A27DB-BD31-4B8C-83A1-F6EECF244321}">
                <p14:modId xmlns:p14="http://schemas.microsoft.com/office/powerpoint/2010/main" val="2206221714"/>
              </p:ext>
            </p:extLst>
          </p:nvPr>
        </p:nvGraphicFramePr>
        <p:xfrm>
          <a:off x="850392" y="914401"/>
          <a:ext cx="10332720" cy="4937758"/>
        </p:xfrm>
        <a:graphic>
          <a:graphicData uri="http://schemas.openxmlformats.org/drawingml/2006/table">
            <a:tbl>
              <a:tblPr firstRow="1" firstCol="1" bandRow="1">
                <a:tableStyleId>{5C22544A-7EE6-4342-B048-85BDC9FD1C3A}</a:tableStyleId>
              </a:tblPr>
              <a:tblGrid>
                <a:gridCol w="1227193">
                  <a:extLst>
                    <a:ext uri="{9D8B030D-6E8A-4147-A177-3AD203B41FA5}">
                      <a16:colId xmlns:a16="http://schemas.microsoft.com/office/drawing/2014/main" val="3298973687"/>
                    </a:ext>
                  </a:extLst>
                </a:gridCol>
                <a:gridCol w="9105527">
                  <a:extLst>
                    <a:ext uri="{9D8B030D-6E8A-4147-A177-3AD203B41FA5}">
                      <a16:colId xmlns:a16="http://schemas.microsoft.com/office/drawing/2014/main" val="4078998862"/>
                    </a:ext>
                  </a:extLst>
                </a:gridCol>
              </a:tblGrid>
              <a:tr h="287158">
                <a:tc>
                  <a:txBody>
                    <a:bodyPr/>
                    <a:lstStyle/>
                    <a:p>
                      <a:pPr>
                        <a:lnSpc>
                          <a:spcPct val="115000"/>
                        </a:lnSpc>
                        <a:spcAft>
                          <a:spcPts val="800"/>
                        </a:spcAft>
                        <a:buNone/>
                      </a:pPr>
                      <a:r>
                        <a:rPr lang="en-PK" sz="1200" b="1" kern="100">
                          <a:effectLst/>
                          <a:latin typeface="Times New Roman" panose="02020603050405020304" pitchFamily="18" charset="0"/>
                          <a:cs typeface="Times New Roman" panose="02020603050405020304" pitchFamily="18" charset="0"/>
                        </a:rPr>
                        <a:t>Gene</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PK" sz="1200" b="1" kern="100">
                          <a:effectLst/>
                          <a:latin typeface="Times New Roman" panose="02020603050405020304" pitchFamily="18" charset="0"/>
                          <a:cs typeface="Times New Roman" panose="02020603050405020304" pitchFamily="18" charset="0"/>
                        </a:rPr>
                        <a:t>Description</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88629645"/>
                  </a:ext>
                </a:extLst>
              </a:tr>
              <a:tr h="589277">
                <a:tc>
                  <a:txBody>
                    <a:bodyPr/>
                    <a:lstStyle/>
                    <a:p>
                      <a:pPr>
                        <a:lnSpc>
                          <a:spcPct val="115000"/>
                        </a:lnSpc>
                        <a:spcAft>
                          <a:spcPts val="800"/>
                        </a:spcAft>
                        <a:buNone/>
                      </a:pPr>
                      <a:r>
                        <a:rPr lang="en-PK" sz="1200" kern="100" dirty="0">
                          <a:effectLst/>
                          <a:latin typeface="Times New Roman" panose="02020603050405020304" pitchFamily="18" charset="0"/>
                          <a:cs typeface="Times New Roman" panose="02020603050405020304" pitchFamily="18" charset="0"/>
                        </a:rPr>
                        <a:t>LEF1</a:t>
                      </a:r>
                      <a:endParaRPr lang="en-PK"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LEF1 is a Wnt transcription factor. Its strong upregulation shows active Wnt/β-catenin signaling, which supports tumor growth and invasion.</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20335266"/>
                  </a:ext>
                </a:extLst>
              </a:tr>
              <a:tr h="576286">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PTEN</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PTEN is a tumor suppressor that inhibits the PI3K/AKT pathway. Surprisingly, it is slightly upregulated here, which may represent a subtype where PTEN is retained.</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37149510"/>
                  </a:ext>
                </a:extLst>
              </a:tr>
              <a:tr h="687622">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FGF2</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FGF2 usually promotes angiogenesis and tumor growth. Its slight downregulation suggests weaker contribution to cancer progression in this dataset.</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50023011"/>
                  </a:ext>
                </a:extLst>
              </a:tr>
              <a:tr h="589277">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EGFR</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PK" sz="1200" kern="100" dirty="0">
                          <a:effectLst/>
                          <a:latin typeface="Times New Roman" panose="02020603050405020304" pitchFamily="18" charset="0"/>
                          <a:cs typeface="Times New Roman" panose="02020603050405020304" pitchFamily="18" charset="0"/>
                        </a:rPr>
                        <a:t>EGFR is important in triple-negative breast cancer. Its downregulation here suggests these samples are not strongly dependent on EGFR signalling.</a:t>
                      </a:r>
                      <a:endParaRPr lang="en-PK"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34713832"/>
                  </a:ext>
                </a:extLst>
              </a:tr>
              <a:tr h="660064">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IGF1R</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PK" sz="1200" kern="100" dirty="0">
                          <a:effectLst/>
                          <a:latin typeface="Times New Roman" panose="02020603050405020304" pitchFamily="18" charset="0"/>
                          <a:cs typeface="Times New Roman" panose="02020603050405020304" pitchFamily="18" charset="0"/>
                        </a:rPr>
                        <a:t>IGF1R is a receptor that promotes survival and endocrine resistance. Its upregulation here shows that IGF </a:t>
                      </a:r>
                      <a:r>
                        <a:rPr lang="en-PK" sz="1200" kern="100" dirty="0" err="1">
                          <a:effectLst/>
                          <a:latin typeface="Times New Roman" panose="02020603050405020304" pitchFamily="18" charset="0"/>
                          <a:cs typeface="Times New Roman" panose="02020603050405020304" pitchFamily="18" charset="0"/>
                        </a:rPr>
                        <a:t>signaling</a:t>
                      </a:r>
                      <a:r>
                        <a:rPr lang="en-PK" sz="1200" kern="100" dirty="0">
                          <a:effectLst/>
                          <a:latin typeface="Times New Roman" panose="02020603050405020304" pitchFamily="18" charset="0"/>
                          <a:cs typeface="Times New Roman" panose="02020603050405020304" pitchFamily="18" charset="0"/>
                        </a:rPr>
                        <a:t> remains active despite lower IGF1 levels.</a:t>
                      </a:r>
                      <a:endParaRPr lang="en-PK"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78800350"/>
                  </a:ext>
                </a:extLst>
              </a:tr>
              <a:tr h="416448">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FGF5</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PK" sz="1200" kern="100" dirty="0">
                          <a:effectLst/>
                          <a:latin typeface="Times New Roman" panose="02020603050405020304" pitchFamily="18" charset="0"/>
                          <a:cs typeface="Times New Roman" panose="02020603050405020304" pitchFamily="18" charset="0"/>
                        </a:rPr>
                        <a:t>FGF5 promotes angiogenesis and growth. Its downregulation suggests it is not playing a strong role in these breast cancers.</a:t>
                      </a:r>
                      <a:endParaRPr lang="en-PK"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17816150"/>
                  </a:ext>
                </a:extLst>
              </a:tr>
              <a:tr h="542349">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RB1</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RB1 is a tumor suppressor controlling the cell cycle. Its downregulation removes cell cycle brakes, promoting uncontrolled tumor cell division.</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61343695"/>
                  </a:ext>
                </a:extLst>
              </a:tr>
              <a:tr h="589277">
                <a:tc>
                  <a:txBody>
                    <a:bodyPr/>
                    <a:lstStyle/>
                    <a:p>
                      <a:pPr>
                        <a:lnSpc>
                          <a:spcPct val="115000"/>
                        </a:lnSpc>
                        <a:spcAft>
                          <a:spcPts val="800"/>
                        </a:spcAft>
                        <a:buNone/>
                      </a:pPr>
                      <a:r>
                        <a:rPr lang="en-PK" sz="1200" kern="100">
                          <a:effectLst/>
                          <a:latin typeface="Times New Roman" panose="02020603050405020304" pitchFamily="18" charset="0"/>
                          <a:cs typeface="Times New Roman" panose="02020603050405020304" pitchFamily="18" charset="0"/>
                        </a:rPr>
                        <a:t>FLT4</a:t>
                      </a:r>
                      <a:endParaRPr lang="en-PK"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PK" sz="1200" kern="100" dirty="0">
                          <a:effectLst/>
                          <a:latin typeface="Times New Roman" panose="02020603050405020304" pitchFamily="18" charset="0"/>
                          <a:cs typeface="Times New Roman" panose="02020603050405020304" pitchFamily="18" charset="0"/>
                        </a:rPr>
                        <a:t>FLT4 (VEGFR3) drives </a:t>
                      </a:r>
                      <a:r>
                        <a:rPr lang="en-PK" sz="1200" kern="100" dirty="0" err="1">
                          <a:effectLst/>
                          <a:latin typeface="Times New Roman" panose="02020603050405020304" pitchFamily="18" charset="0"/>
                          <a:cs typeface="Times New Roman" panose="02020603050405020304" pitchFamily="18" charset="0"/>
                        </a:rPr>
                        <a:t>lymphangiogenesis</a:t>
                      </a:r>
                      <a:r>
                        <a:rPr lang="en-PK" sz="1200" kern="100" dirty="0">
                          <a:effectLst/>
                          <a:latin typeface="Times New Roman" panose="02020603050405020304" pitchFamily="18" charset="0"/>
                          <a:cs typeface="Times New Roman" panose="02020603050405020304" pitchFamily="18" charset="0"/>
                        </a:rPr>
                        <a:t>. Its upregulation indicates higher potential for lymph node spread in breast cancer.</a:t>
                      </a:r>
                      <a:endParaRPr lang="en-PK"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20492716"/>
                  </a:ext>
                </a:extLst>
              </a:tr>
            </a:tbl>
          </a:graphicData>
        </a:graphic>
      </p:graphicFrame>
      <p:sp>
        <p:nvSpPr>
          <p:cNvPr id="3" name="Slide Number Placeholder 2">
            <a:extLst>
              <a:ext uri="{FF2B5EF4-FFF2-40B4-BE49-F238E27FC236}">
                <a16:creationId xmlns:a16="http://schemas.microsoft.com/office/drawing/2014/main" id="{415E419E-02C1-B959-FC39-56D38ABB54CF}"/>
              </a:ext>
            </a:extLst>
          </p:cNvPr>
          <p:cNvSpPr>
            <a:spLocks noGrp="1"/>
          </p:cNvSpPr>
          <p:nvPr>
            <p:ph type="sldNum" sz="quarter" idx="12"/>
          </p:nvPr>
        </p:nvSpPr>
        <p:spPr/>
        <p:txBody>
          <a:bodyPr/>
          <a:lstStyle/>
          <a:p>
            <a:fld id="{330EA680-D336-4FF7-8B7A-9848BB0A1C32}" type="slidenum">
              <a:rPr lang="en-GB" smtClean="0"/>
              <a:t>19</a:t>
            </a:fld>
            <a:endParaRPr lang="en-GB"/>
          </a:p>
        </p:txBody>
      </p:sp>
    </p:spTree>
    <p:extLst>
      <p:ext uri="{BB962C8B-B14F-4D97-AF65-F5344CB8AC3E}">
        <p14:creationId xmlns:p14="http://schemas.microsoft.com/office/powerpoint/2010/main" val="2050319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D26FE7A0-06AC-243C-AD94-993E7C3B3EBA}"/>
              </a:ext>
            </a:extLst>
          </p:cNvPr>
          <p:cNvSpPr>
            <a:spLocks noGrp="1"/>
          </p:cNvSpPr>
          <p:nvPr>
            <p:ph type="title"/>
          </p:nvPr>
        </p:nvSpPr>
        <p:spPr>
          <a:xfrm>
            <a:off x="868330" y="573510"/>
            <a:ext cx="9833548" cy="916158"/>
          </a:xfrm>
        </p:spPr>
        <p:txBody>
          <a:bodyPr anchor="b">
            <a:normAutofit/>
          </a:bodyPr>
          <a:lstStyle/>
          <a:p>
            <a:pPr algn="ctr"/>
            <a:r>
              <a:rPr lang="en-GB" sz="3600" b="1" dirty="0">
                <a:solidFill>
                  <a:schemeClr val="tx2"/>
                </a:solidFill>
                <a:latin typeface="Times New Roman" panose="02020603050405020304" pitchFamily="18" charset="0"/>
                <a:ea typeface="+mj-lt"/>
                <a:cs typeface="Times New Roman" panose="02020603050405020304" pitchFamily="18" charset="0"/>
              </a:rPr>
              <a:t>Conclusion</a:t>
            </a:r>
            <a:endParaRPr lang="en-US" sz="3600" b="1" dirty="0">
              <a:solidFill>
                <a:schemeClr val="tx2"/>
              </a:solidFill>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09C43B91-1DCE-96F2-FD3C-EF68F11FA97E}"/>
              </a:ext>
            </a:extLst>
          </p:cNvPr>
          <p:cNvSpPr>
            <a:spLocks noGrp="1"/>
          </p:cNvSpPr>
          <p:nvPr>
            <p:ph idx="1"/>
          </p:nvPr>
        </p:nvSpPr>
        <p:spPr>
          <a:xfrm>
            <a:off x="1296613" y="2011733"/>
            <a:ext cx="9833548" cy="2457269"/>
          </a:xfrm>
        </p:spPr>
        <p:txBody>
          <a:bodyPr vert="horz" lIns="91440" tIns="45720" rIns="91440" bIns="45720" rtlCol="0" anchor="t">
            <a:normAutofit/>
          </a:bodyPr>
          <a:lstStyle/>
          <a:p>
            <a:r>
              <a:rPr lang="en-GB" sz="1800" dirty="0">
                <a:solidFill>
                  <a:schemeClr val="tx2"/>
                </a:solidFill>
                <a:latin typeface="Times New Roman" panose="02020603050405020304" pitchFamily="18" charset="0"/>
                <a:ea typeface="+mn-lt"/>
                <a:cs typeface="Times New Roman" panose="02020603050405020304" pitchFamily="18" charset="0"/>
              </a:rPr>
              <a:t>The project successfully identified key gene expression changes and associated biological pathways in breast cancer.</a:t>
            </a:r>
          </a:p>
          <a:p>
            <a:endParaRPr lang="en-GB" dirty="0">
              <a:solidFill>
                <a:schemeClr val="tx2"/>
              </a:solidFill>
              <a:latin typeface="Times New Roman" panose="02020603050405020304" pitchFamily="18" charset="0"/>
              <a:ea typeface="+mn-lt"/>
              <a:cs typeface="Times New Roman" panose="02020603050405020304" pitchFamily="18" charset="0"/>
            </a:endParaRPr>
          </a:p>
          <a:p>
            <a:r>
              <a:rPr lang="en-GB" sz="1800" dirty="0">
                <a:solidFill>
                  <a:schemeClr val="tx2"/>
                </a:solidFill>
                <a:latin typeface="Times New Roman" panose="02020603050405020304" pitchFamily="18" charset="0"/>
                <a:ea typeface="+mn-lt"/>
                <a:cs typeface="Times New Roman" panose="02020603050405020304" pitchFamily="18" charset="0"/>
              </a:rPr>
              <a:t> These findings contribute to the growing body of molecular knowledge on breast cancer and provide potential leads for future biomarker discovery.</a:t>
            </a:r>
            <a:endParaRPr lang="en-GB" dirty="0">
              <a:solidFill>
                <a:schemeClr val="tx2"/>
              </a:solidFill>
              <a:latin typeface="Times New Roman" panose="02020603050405020304" pitchFamily="18" charset="0"/>
              <a:cs typeface="Times New Roman" panose="02020603050405020304" pitchFamily="18" charset="0"/>
            </a:endParaRPr>
          </a:p>
          <a:p>
            <a:endParaRPr lang="en-GB" sz="1800" dirty="0">
              <a:solidFill>
                <a:schemeClr val="tx2"/>
              </a:solidFill>
            </a:endParaRPr>
          </a:p>
          <a:p>
            <a:endParaRPr lang="en-GB" sz="1800" dirty="0">
              <a:solidFill>
                <a:schemeClr val="tx2"/>
              </a:solidFill>
            </a:endParaRPr>
          </a:p>
          <a:p>
            <a:endParaRPr lang="en-GB" sz="1800" dirty="0">
              <a:solidFill>
                <a:schemeClr val="tx2"/>
              </a:solidFill>
            </a:endParaRP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Slide Number Placeholder 4">
            <a:extLst>
              <a:ext uri="{FF2B5EF4-FFF2-40B4-BE49-F238E27FC236}">
                <a16:creationId xmlns:a16="http://schemas.microsoft.com/office/drawing/2014/main" id="{4F27DD40-B5F9-B828-048F-154914442B6A}"/>
              </a:ext>
            </a:extLst>
          </p:cNvPr>
          <p:cNvSpPr>
            <a:spLocks noGrp="1"/>
          </p:cNvSpPr>
          <p:nvPr>
            <p:ph type="sldNum" sz="quarter" idx="12"/>
          </p:nvPr>
        </p:nvSpPr>
        <p:spPr/>
        <p:txBody>
          <a:bodyPr/>
          <a:lstStyle/>
          <a:p>
            <a:fld id="{330EA680-D336-4FF7-8B7A-9848BB0A1C32}" type="slidenum">
              <a:rPr lang="en-GB" smtClean="0"/>
              <a:t>20</a:t>
            </a:fld>
            <a:endParaRPr lang="en-GB"/>
          </a:p>
        </p:txBody>
      </p:sp>
    </p:spTree>
    <p:extLst>
      <p:ext uri="{BB962C8B-B14F-4D97-AF65-F5344CB8AC3E}">
        <p14:creationId xmlns:p14="http://schemas.microsoft.com/office/powerpoint/2010/main" val="4270228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04A6520E-9092-6936-22F4-4DCEA0A3360C}"/>
              </a:ext>
            </a:extLst>
          </p:cNvPr>
          <p:cNvSpPr>
            <a:spLocks noGrp="1"/>
          </p:cNvSpPr>
          <p:nvPr>
            <p:ph type="title"/>
          </p:nvPr>
        </p:nvSpPr>
        <p:spPr>
          <a:xfrm>
            <a:off x="941482" y="2372113"/>
            <a:ext cx="9833548" cy="965448"/>
          </a:xfrm>
        </p:spPr>
        <p:txBody>
          <a:bodyPr anchor="b">
            <a:normAutofit/>
          </a:bodyPr>
          <a:lstStyle/>
          <a:p>
            <a:pPr algn="ctr"/>
            <a:r>
              <a:rPr lang="en-GB" sz="3600" b="1" dirty="0">
                <a:solidFill>
                  <a:schemeClr val="tx2"/>
                </a:solidFill>
                <a:ea typeface="+mj-lt"/>
                <a:cs typeface="+mj-lt"/>
              </a:rPr>
              <a:t>Thank You</a:t>
            </a:r>
            <a:endParaRPr lang="en-US" sz="3600" b="1" dirty="0">
              <a:solidFill>
                <a:schemeClr val="tx2"/>
              </a:solidFill>
            </a:endParaRPr>
          </a:p>
        </p:txBody>
      </p:sp>
      <p:grpSp>
        <p:nvGrpSpPr>
          <p:cNvPr id="24" name="Group 23">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Slide Number Placeholder 3">
            <a:extLst>
              <a:ext uri="{FF2B5EF4-FFF2-40B4-BE49-F238E27FC236}">
                <a16:creationId xmlns:a16="http://schemas.microsoft.com/office/drawing/2014/main" id="{CD57D923-7879-26E6-C53D-289BE5BACCA1}"/>
              </a:ext>
            </a:extLst>
          </p:cNvPr>
          <p:cNvSpPr>
            <a:spLocks noGrp="1"/>
          </p:cNvSpPr>
          <p:nvPr>
            <p:ph type="sldNum" sz="quarter" idx="12"/>
          </p:nvPr>
        </p:nvSpPr>
        <p:spPr/>
        <p:txBody>
          <a:bodyPr/>
          <a:lstStyle/>
          <a:p>
            <a:fld id="{330EA680-D336-4FF7-8B7A-9848BB0A1C32}" type="slidenum">
              <a:rPr lang="en-GB" smtClean="0"/>
              <a:t>21</a:t>
            </a:fld>
            <a:endParaRPr lang="en-GB"/>
          </a:p>
        </p:txBody>
      </p:sp>
    </p:spTree>
    <p:extLst>
      <p:ext uri="{BB962C8B-B14F-4D97-AF65-F5344CB8AC3E}">
        <p14:creationId xmlns:p14="http://schemas.microsoft.com/office/powerpoint/2010/main" val="42467310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121</TotalTime>
  <Words>1335</Words>
  <Application>Microsoft Office PowerPoint</Application>
  <PresentationFormat>Widescreen</PresentationFormat>
  <Paragraphs>192</Paragraphs>
  <Slides>21</Slides>
  <Notes>6</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Microarray-Based Expression Profiling for Identification of Differentially Expressed Genes and Related Pathways in Breast Cancer </vt:lpstr>
      <vt:lpstr>Outline </vt:lpstr>
      <vt:lpstr>Introduction (Breast Cancer) </vt:lpstr>
      <vt:lpstr>Why Gene Expression Studies?</vt:lpstr>
      <vt:lpstr>Objectives of the study </vt:lpstr>
      <vt:lpstr>Dataset Information</vt:lpstr>
      <vt:lpstr>Workflow Diagram</vt:lpstr>
      <vt:lpstr>Results</vt:lpstr>
      <vt:lpstr>UMAP Plot </vt:lpstr>
      <vt:lpstr>PowerPoint Presentation</vt:lpstr>
      <vt:lpstr>Volcano Plot </vt:lpstr>
      <vt:lpstr>Voom Plot</vt:lpstr>
      <vt:lpstr>Pathway Enrichment Analysis </vt:lpstr>
      <vt:lpstr>Genes Enriched in the Breast Cancer Pathway in GSE15852</vt:lpstr>
      <vt:lpstr>Genes Enriched in the Breast  Cancer Pathway in GSE15852 </vt:lpstr>
      <vt:lpstr>Discussion</vt:lpstr>
      <vt:lpstr>PowerPoint Presentation</vt:lpstr>
      <vt:lpstr>PowerPoint Presentation</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Saddia Bano</dc:creator>
  <cp:lastModifiedBy>Saddia Bano</cp:lastModifiedBy>
  <cp:revision>626</cp:revision>
  <dcterms:created xsi:type="dcterms:W3CDTF">2025-08-19T08:26:13Z</dcterms:created>
  <dcterms:modified xsi:type="dcterms:W3CDTF">2025-08-21T12:15:49Z</dcterms:modified>
</cp:coreProperties>
</file>